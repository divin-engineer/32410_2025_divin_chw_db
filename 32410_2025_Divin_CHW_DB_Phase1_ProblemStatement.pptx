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Lst>
  <p:notesMasterIdLst>
    <p:notesMasterId r:id="rId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notesMaster" Target="notesMasters/notesMaster1.xml"/><Relationship Id="rId6" Type="http://schemas.openxmlformats.org/officeDocument/2006/relationships/presProps" Target="presProps.xml"/><Relationship Id="rId7" Type="http://schemas.openxmlformats.org/officeDocument/2006/relationships/viewProps" Target="viewProps.xml"/><Relationship Id="rId8" Type="http://schemas.openxmlformats.org/officeDocument/2006/relationships/theme" Target="theme/theme1.xml"/><Relationship Id="rId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E2F3D"/>
        </a:solidFill>
      </p:bgPr>
    </p:bg>
    <p:spTree>
      <p:nvGrpSpPr>
        <p:cNvPr id="1" name=""/>
        <p:cNvGrpSpPr/>
        <p:nvPr/>
      </p:nvGrpSpPr>
      <p:grpSpPr>
        <a:xfrm>
          <a:off x="0" y="0"/>
          <a:ext cx="0" cy="0"/>
          <a:chOff x="0" y="0"/>
          <a:chExt cx="0" cy="0"/>
        </a:xfrm>
      </p:grpSpPr>
      <p:sp>
        <p:nvSpPr>
          <p:cNvPr id="2" name="Shape 0"/>
          <p:cNvSpPr/>
          <p:nvPr/>
        </p:nvSpPr>
        <p:spPr>
          <a:xfrm>
            <a:off x="0" y="0"/>
            <a:ext cx="4206240" cy="6858000"/>
          </a:xfrm>
          <a:prstGeom prst="rect">
            <a:avLst/>
          </a:prstGeom>
          <a:solidFill>
            <a:srgbClr val="028090">
              <a:alpha val="15000"/>
            </a:srgbClr>
          </a:solidFill>
          <a:ln/>
        </p:spPr>
      </p:sp>
      <p:sp>
        <p:nvSpPr>
          <p:cNvPr id="3" name="Shape 1"/>
          <p:cNvSpPr/>
          <p:nvPr/>
        </p:nvSpPr>
        <p:spPr>
          <a:xfrm>
            <a:off x="9966960" y="-1188720"/>
            <a:ext cx="3840480" cy="3840480"/>
          </a:xfrm>
          <a:prstGeom prst="ellipse">
            <a:avLst/>
          </a:prstGeom>
          <a:solidFill>
            <a:srgbClr val="00A896">
              <a:alpha val="12000"/>
            </a:srgbClr>
          </a:solidFill>
          <a:ln/>
        </p:spPr>
      </p:sp>
      <p:sp>
        <p:nvSpPr>
          <p:cNvPr id="4" name="Shape 2"/>
          <p:cNvSpPr/>
          <p:nvPr/>
        </p:nvSpPr>
        <p:spPr>
          <a:xfrm>
            <a:off x="-1280160" y="4937760"/>
            <a:ext cx="3108960" cy="3108960"/>
          </a:xfrm>
          <a:prstGeom prst="ellipse">
            <a:avLst/>
          </a:prstGeom>
          <a:solidFill>
            <a:srgbClr val="02C39A">
              <a:alpha val="10000"/>
            </a:srgbClr>
          </a:solidFill>
          <a:ln/>
        </p:spPr>
      </p:sp>
      <p:sp>
        <p:nvSpPr>
          <p:cNvPr id="5" name="Text 3"/>
          <p:cNvSpPr/>
          <p:nvPr/>
        </p:nvSpPr>
        <p:spPr>
          <a:xfrm>
            <a:off x="548640" y="384048"/>
            <a:ext cx="8229600" cy="365760"/>
          </a:xfrm>
          <a:prstGeom prst="rect">
            <a:avLst/>
          </a:prstGeom>
          <a:noFill/>
          <a:ln/>
        </p:spPr>
        <p:txBody>
          <a:bodyPr wrap="square" rtlCol="0" anchor="ctr"/>
          <a:lstStyle/>
          <a:p>
            <a:pPr indent="0" marL="0">
              <a:buNone/>
            </a:pPr>
            <a:r>
              <a:rPr lang="en-US" sz="1300" b="1" spc="200" kern="0" dirty="0">
                <a:solidFill>
                  <a:srgbClr val="02C39A"/>
                </a:solidFill>
                <a:latin typeface="Helvetica" pitchFamily="34" charset="0"/>
                <a:ea typeface="Helvetica" pitchFamily="34" charset="-122"/>
                <a:cs typeface="Helvetica" pitchFamily="34" charset="-120"/>
              </a:rPr>
              <a:t>PHASE I — PROBLEM STATEMENT</a:t>
            </a:r>
            <a:endParaRPr lang="en-US" sz="1300" dirty="0"/>
          </a:p>
        </p:txBody>
      </p:sp>
      <p:sp>
        <p:nvSpPr>
          <p:cNvPr id="6" name="Text 4"/>
          <p:cNvSpPr/>
          <p:nvPr/>
        </p:nvSpPr>
        <p:spPr>
          <a:xfrm>
            <a:off x="548640" y="749808"/>
            <a:ext cx="10515600" cy="1554480"/>
          </a:xfrm>
          <a:prstGeom prst="rect">
            <a:avLst/>
          </a:prstGeom>
          <a:noFill/>
          <a:ln/>
        </p:spPr>
        <p:txBody>
          <a:bodyPr wrap="square" rtlCol="0" anchor="ctr"/>
          <a:lstStyle/>
          <a:p>
            <a:pPr indent="0" marL="0">
              <a:lnSpc>
                <a:spcPts val="4200"/>
              </a:lnSpc>
              <a:buNone/>
            </a:pPr>
            <a:r>
              <a:rPr lang="en-US" sz="3800" b="1" dirty="0">
                <a:solidFill>
                  <a:srgbClr val="FFFFFF"/>
                </a:solidFill>
                <a:latin typeface="Helvetica" pitchFamily="34" charset="0"/>
                <a:ea typeface="Helvetica" pitchFamily="34" charset="-122"/>
                <a:cs typeface="Helvetica" pitchFamily="34" charset="-120"/>
              </a:rPr>
              <a:t>CHW Outreach &amp; Referral</a:t>
            </a:r>
            <a:endParaRPr lang="en-US" sz="3800" dirty="0"/>
          </a:p>
          <a:p>
            <a:pPr indent="0" marL="0">
              <a:lnSpc>
                <a:spcPts val="4200"/>
              </a:lnSpc>
              <a:buNone/>
            </a:pPr>
            <a:r>
              <a:rPr lang="en-US" sz="3800" b="1" dirty="0">
                <a:solidFill>
                  <a:srgbClr val="FFFFFF"/>
                </a:solidFill>
                <a:latin typeface="Helvetica" pitchFamily="34" charset="0"/>
                <a:ea typeface="Helvetica" pitchFamily="34" charset="-122"/>
                <a:cs typeface="Helvetica" pitchFamily="34" charset="-120"/>
              </a:rPr>
              <a:t>Tracking System</a:t>
            </a:r>
            <a:endParaRPr lang="en-US" sz="3800" dirty="0"/>
          </a:p>
        </p:txBody>
      </p:sp>
      <p:sp>
        <p:nvSpPr>
          <p:cNvPr id="7" name="Text 5"/>
          <p:cNvSpPr/>
          <p:nvPr/>
        </p:nvSpPr>
        <p:spPr>
          <a:xfrm>
            <a:off x="548640" y="2240280"/>
            <a:ext cx="10058400" cy="457200"/>
          </a:xfrm>
          <a:prstGeom prst="rect">
            <a:avLst/>
          </a:prstGeom>
          <a:noFill/>
          <a:ln/>
        </p:spPr>
        <p:txBody>
          <a:bodyPr wrap="square" rtlCol="0" anchor="ctr"/>
          <a:lstStyle/>
          <a:p>
            <a:pPr indent="0" marL="0">
              <a:buNone/>
            </a:pPr>
            <a:r>
              <a:rPr lang="en-US" sz="1500" i="1" dirty="0">
                <a:solidFill>
                  <a:srgbClr val="CADCFC"/>
                </a:solidFill>
                <a:latin typeface="Helvetica" pitchFamily="34" charset="0"/>
                <a:ea typeface="Helvetica" pitchFamily="34" charset="-122"/>
                <a:cs typeface="Helvetica" pitchFamily="34" charset="-120"/>
              </a:rPr>
              <a:t>An Oracle Database solution for last-mile SRH outreach coordination in rural Rwanda</a:t>
            </a:r>
            <a:endParaRPr lang="en-US" sz="1500" dirty="0"/>
          </a:p>
        </p:txBody>
      </p:sp>
      <p:sp>
        <p:nvSpPr>
          <p:cNvPr id="8" name="Shape 6"/>
          <p:cNvSpPr/>
          <p:nvPr/>
        </p:nvSpPr>
        <p:spPr>
          <a:xfrm>
            <a:off x="548640" y="2788920"/>
            <a:ext cx="2926080" cy="0"/>
          </a:xfrm>
          <a:prstGeom prst="line">
            <a:avLst/>
          </a:prstGeom>
          <a:noFill/>
          <a:ln w="25400">
            <a:solidFill>
              <a:srgbClr val="02C39A"/>
            </a:solidFill>
            <a:prstDash val="solid"/>
          </a:ln>
        </p:spPr>
      </p:sp>
      <p:sp>
        <p:nvSpPr>
          <p:cNvPr id="9" name="Text 7"/>
          <p:cNvSpPr/>
          <p:nvPr/>
        </p:nvSpPr>
        <p:spPr>
          <a:xfrm>
            <a:off x="548640" y="3063240"/>
            <a:ext cx="5486400" cy="320040"/>
          </a:xfrm>
          <a:prstGeom prst="rect">
            <a:avLst/>
          </a:prstGeom>
          <a:noFill/>
          <a:ln/>
        </p:spPr>
        <p:txBody>
          <a:bodyPr wrap="square" rtlCol="0" anchor="ctr"/>
          <a:lstStyle/>
          <a:p>
            <a:pPr indent="0" marL="0">
              <a:buNone/>
            </a:pPr>
            <a:r>
              <a:rPr lang="en-US" sz="1300" b="1" spc="150" kern="0" dirty="0">
                <a:solidFill>
                  <a:srgbClr val="02C39A"/>
                </a:solidFill>
                <a:latin typeface="Helvetica" pitchFamily="34" charset="0"/>
                <a:ea typeface="Helvetica" pitchFamily="34" charset="-122"/>
                <a:cs typeface="Helvetica" pitchFamily="34" charset="-120"/>
              </a:rPr>
              <a:t>PROBLEM DEFINITION</a:t>
            </a:r>
            <a:endParaRPr lang="en-US" sz="1300" dirty="0"/>
          </a:p>
        </p:txBody>
      </p:sp>
      <p:sp>
        <p:nvSpPr>
          <p:cNvPr id="10" name="Text 8"/>
          <p:cNvSpPr/>
          <p:nvPr/>
        </p:nvSpPr>
        <p:spPr>
          <a:xfrm>
            <a:off x="548640" y="3401568"/>
            <a:ext cx="7040880" cy="1828800"/>
          </a:xfrm>
          <a:prstGeom prst="rect">
            <a:avLst/>
          </a:prstGeom>
          <a:noFill/>
          <a:ln/>
        </p:spPr>
        <p:txBody>
          <a:bodyPr wrap="square" rtlCol="0" anchor="ctr"/>
          <a:lstStyle/>
          <a:p>
            <a:pPr indent="0" marL="0">
              <a:lnSpc>
                <a:spcPts val="2000"/>
              </a:lnSpc>
              <a:buNone/>
            </a:pPr>
            <a:r>
              <a:rPr lang="en-US" sz="1350" dirty="0">
                <a:solidFill>
                  <a:srgbClr val="FFFFFF"/>
                </a:solidFill>
                <a:latin typeface="Helvetica" pitchFamily="34" charset="0"/>
                <a:ea typeface="Helvetica" pitchFamily="34" charset="-122"/>
                <a:cs typeface="Helvetica" pitchFamily="34" charset="-120"/>
              </a:rPr>
              <a:t>Community Health Workers (CHWs) conduct household SRH outreach and refer at-risk cases to health facilities, but this work is still tracked on paper or scattered spreadsheets. Program coordinators cannot reliably see which households have gone unvisited, which referrals were never completed, or which topics are under-covered — so coverage gaps and dropped referrals go unnoticed until they become health outcomes.</a:t>
            </a:r>
            <a:endParaRPr lang="en-US" sz="1350" dirty="0"/>
          </a:p>
        </p:txBody>
      </p:sp>
      <p:sp>
        <p:nvSpPr>
          <p:cNvPr id="11" name="Text 9"/>
          <p:cNvSpPr/>
          <p:nvPr/>
        </p:nvSpPr>
        <p:spPr>
          <a:xfrm>
            <a:off x="548640" y="5257800"/>
            <a:ext cx="5486400" cy="320040"/>
          </a:xfrm>
          <a:prstGeom prst="rect">
            <a:avLst/>
          </a:prstGeom>
          <a:noFill/>
          <a:ln/>
        </p:spPr>
        <p:txBody>
          <a:bodyPr wrap="square" rtlCol="0" anchor="ctr"/>
          <a:lstStyle/>
          <a:p>
            <a:pPr indent="0" marL="0">
              <a:buNone/>
            </a:pPr>
            <a:r>
              <a:rPr lang="en-US" sz="1300" b="1" spc="150" kern="0" dirty="0">
                <a:solidFill>
                  <a:srgbClr val="02C39A"/>
                </a:solidFill>
                <a:latin typeface="Helvetica" pitchFamily="34" charset="0"/>
                <a:ea typeface="Helvetica" pitchFamily="34" charset="-122"/>
                <a:cs typeface="Helvetica" pitchFamily="34" charset="-120"/>
              </a:rPr>
              <a:t>CONTEXT OF USE</a:t>
            </a:r>
            <a:endParaRPr lang="en-US" sz="1300" dirty="0"/>
          </a:p>
        </p:txBody>
      </p:sp>
      <p:sp>
        <p:nvSpPr>
          <p:cNvPr id="12" name="Text 10"/>
          <p:cNvSpPr/>
          <p:nvPr/>
        </p:nvSpPr>
        <p:spPr>
          <a:xfrm>
            <a:off x="548640" y="5577840"/>
            <a:ext cx="7040880" cy="1005840"/>
          </a:xfrm>
          <a:prstGeom prst="rect">
            <a:avLst/>
          </a:prstGeom>
          <a:noFill/>
          <a:ln/>
        </p:spPr>
        <p:txBody>
          <a:bodyPr wrap="square" rtlCol="0" anchor="ctr"/>
          <a:lstStyle/>
          <a:p>
            <a:pPr indent="0" marL="0">
              <a:lnSpc>
                <a:spcPts val="1800"/>
              </a:lnSpc>
              <a:buNone/>
            </a:pPr>
            <a:r>
              <a:rPr lang="en-US" sz="1250" dirty="0">
                <a:solidFill>
                  <a:srgbClr val="E8F4F2"/>
                </a:solidFill>
                <a:latin typeface="Helvetica" pitchFamily="34" charset="0"/>
                <a:ea typeface="Helvetica" pitchFamily="34" charset="-122"/>
                <a:cs typeface="Helvetica" pitchFamily="34" charset="-120"/>
              </a:rPr>
              <a:t>Deployed for rural CHW programs operating across multiple districts, where a single coordinator oversees several CHWs, each managing dozens of households — exactly the last-mile setting where paper-based tracking breaks down.</a:t>
            </a:r>
            <a:endParaRPr lang="en-US" sz="1250" dirty="0"/>
          </a:p>
        </p:txBody>
      </p:sp>
      <p:sp>
        <p:nvSpPr>
          <p:cNvPr id="13" name="Shape 11"/>
          <p:cNvSpPr/>
          <p:nvPr/>
        </p:nvSpPr>
        <p:spPr>
          <a:xfrm>
            <a:off x="8229600" y="3063240"/>
            <a:ext cx="3383280" cy="3520440"/>
          </a:xfrm>
          <a:prstGeom prst="roundRect">
            <a:avLst>
              <a:gd name="adj" fmla="val 3243"/>
            </a:avLst>
          </a:prstGeom>
          <a:solidFill>
            <a:srgbClr val="FFFFFF">
              <a:alpha val="94000"/>
            </a:srgbClr>
          </a:solidFill>
          <a:ln w="12700">
            <a:solidFill>
              <a:srgbClr val="02C39A"/>
            </a:solidFill>
            <a:prstDash val="solid"/>
          </a:ln>
        </p:spPr>
      </p:sp>
      <p:sp>
        <p:nvSpPr>
          <p:cNvPr id="14" name="Text 12"/>
          <p:cNvSpPr/>
          <p:nvPr/>
        </p:nvSpPr>
        <p:spPr>
          <a:xfrm>
            <a:off x="8549640" y="3291840"/>
            <a:ext cx="2834640" cy="274320"/>
          </a:xfrm>
          <a:prstGeom prst="rect">
            <a:avLst/>
          </a:prstGeom>
          <a:noFill/>
          <a:ln/>
        </p:spPr>
        <p:txBody>
          <a:bodyPr wrap="square" rtlCol="0" anchor="ctr"/>
          <a:lstStyle/>
          <a:p>
            <a:pPr indent="0" marL="0">
              <a:buNone/>
            </a:pPr>
            <a:r>
              <a:rPr lang="en-US" sz="1100" b="1" spc="150" kern="0" dirty="0">
                <a:solidFill>
                  <a:srgbClr val="02C39A"/>
                </a:solidFill>
                <a:latin typeface="Helvetica" pitchFamily="34" charset="0"/>
                <a:ea typeface="Helvetica" pitchFamily="34" charset="-122"/>
                <a:cs typeface="Helvetica" pitchFamily="34" charset="-120"/>
              </a:rPr>
              <a:t>AT A GLANCE</a:t>
            </a:r>
            <a:endParaRPr lang="en-US" sz="1100" dirty="0"/>
          </a:p>
        </p:txBody>
      </p:sp>
      <p:sp>
        <p:nvSpPr>
          <p:cNvPr id="15" name="Text 13"/>
          <p:cNvSpPr/>
          <p:nvPr/>
        </p:nvSpPr>
        <p:spPr>
          <a:xfrm>
            <a:off x="8549640" y="3657600"/>
            <a:ext cx="2834640" cy="228600"/>
          </a:xfrm>
          <a:prstGeom prst="rect">
            <a:avLst/>
          </a:prstGeom>
          <a:noFill/>
          <a:ln/>
        </p:spPr>
        <p:txBody>
          <a:bodyPr wrap="square" rtlCol="0" anchor="ctr"/>
          <a:lstStyle/>
          <a:p>
            <a:pPr indent="0" marL="0">
              <a:buNone/>
            </a:pPr>
            <a:r>
              <a:rPr lang="en-US" sz="900" b="1" dirty="0">
                <a:solidFill>
                  <a:srgbClr val="8FD3C8"/>
                </a:solidFill>
                <a:latin typeface="Helvetica" pitchFamily="34" charset="0"/>
                <a:ea typeface="Helvetica" pitchFamily="34" charset="-122"/>
                <a:cs typeface="Helvetica" pitchFamily="34" charset="-120"/>
              </a:rPr>
              <a:t>PLATFORM</a:t>
            </a:r>
            <a:endParaRPr lang="en-US" sz="900" dirty="0"/>
          </a:p>
        </p:txBody>
      </p:sp>
      <p:sp>
        <p:nvSpPr>
          <p:cNvPr id="16" name="Text 14"/>
          <p:cNvSpPr/>
          <p:nvPr/>
        </p:nvSpPr>
        <p:spPr>
          <a:xfrm>
            <a:off x="8549640" y="3877056"/>
            <a:ext cx="2834640" cy="320040"/>
          </a:xfrm>
          <a:prstGeom prst="rect">
            <a:avLst/>
          </a:prstGeom>
          <a:noFill/>
          <a:ln/>
        </p:spPr>
        <p:txBody>
          <a:bodyPr wrap="square" rtlCol="0" anchor="ctr"/>
          <a:lstStyle/>
          <a:p>
            <a:pPr indent="0" marL="0">
              <a:buNone/>
            </a:pPr>
            <a:r>
              <a:rPr lang="en-US" sz="1200" dirty="0">
                <a:solidFill>
                  <a:srgbClr val="FFFFFF"/>
                </a:solidFill>
                <a:latin typeface="Helvetica" pitchFamily="34" charset="0"/>
                <a:ea typeface="Helvetica" pitchFamily="34" charset="-122"/>
                <a:cs typeface="Helvetica" pitchFamily="34" charset="-120"/>
              </a:rPr>
              <a:t>Oracle Database 21c XE</a:t>
            </a:r>
            <a:endParaRPr lang="en-US" sz="1200" dirty="0"/>
          </a:p>
        </p:txBody>
      </p:sp>
      <p:sp>
        <p:nvSpPr>
          <p:cNvPr id="17" name="Text 15"/>
          <p:cNvSpPr/>
          <p:nvPr/>
        </p:nvSpPr>
        <p:spPr>
          <a:xfrm>
            <a:off x="8549640" y="4224528"/>
            <a:ext cx="2834640" cy="228600"/>
          </a:xfrm>
          <a:prstGeom prst="rect">
            <a:avLst/>
          </a:prstGeom>
          <a:noFill/>
          <a:ln/>
        </p:spPr>
        <p:txBody>
          <a:bodyPr wrap="square" rtlCol="0" anchor="ctr"/>
          <a:lstStyle/>
          <a:p>
            <a:pPr indent="0" marL="0">
              <a:buNone/>
            </a:pPr>
            <a:r>
              <a:rPr lang="en-US" sz="900" b="1" dirty="0">
                <a:solidFill>
                  <a:srgbClr val="8FD3C8"/>
                </a:solidFill>
                <a:latin typeface="Helvetica" pitchFamily="34" charset="0"/>
                <a:ea typeface="Helvetica" pitchFamily="34" charset="-122"/>
                <a:cs typeface="Helvetica" pitchFamily="34" charset="-120"/>
              </a:rPr>
              <a:t>DOMAIN</a:t>
            </a:r>
            <a:endParaRPr lang="en-US" sz="900" dirty="0"/>
          </a:p>
        </p:txBody>
      </p:sp>
      <p:sp>
        <p:nvSpPr>
          <p:cNvPr id="18" name="Text 16"/>
          <p:cNvSpPr/>
          <p:nvPr/>
        </p:nvSpPr>
        <p:spPr>
          <a:xfrm>
            <a:off x="8549640" y="4443984"/>
            <a:ext cx="2834640" cy="320040"/>
          </a:xfrm>
          <a:prstGeom prst="rect">
            <a:avLst/>
          </a:prstGeom>
          <a:noFill/>
          <a:ln/>
        </p:spPr>
        <p:txBody>
          <a:bodyPr wrap="square" rtlCol="0" anchor="ctr"/>
          <a:lstStyle/>
          <a:p>
            <a:pPr indent="0" marL="0">
              <a:buNone/>
            </a:pPr>
            <a:r>
              <a:rPr lang="en-US" sz="1200" dirty="0">
                <a:solidFill>
                  <a:srgbClr val="FFFFFF"/>
                </a:solidFill>
                <a:latin typeface="Helvetica" pitchFamily="34" charset="0"/>
                <a:ea typeface="Helvetica" pitchFamily="34" charset="-122"/>
                <a:cs typeface="Helvetica" pitchFamily="34" charset="-120"/>
              </a:rPr>
              <a:t>Community &amp; SRH Health</a:t>
            </a:r>
            <a:endParaRPr lang="en-US" sz="1200" dirty="0"/>
          </a:p>
        </p:txBody>
      </p:sp>
      <p:sp>
        <p:nvSpPr>
          <p:cNvPr id="19" name="Text 17"/>
          <p:cNvSpPr/>
          <p:nvPr/>
        </p:nvSpPr>
        <p:spPr>
          <a:xfrm>
            <a:off x="8549640" y="4791456"/>
            <a:ext cx="2834640" cy="228600"/>
          </a:xfrm>
          <a:prstGeom prst="rect">
            <a:avLst/>
          </a:prstGeom>
          <a:noFill/>
          <a:ln/>
        </p:spPr>
        <p:txBody>
          <a:bodyPr wrap="square" rtlCol="0" anchor="ctr"/>
          <a:lstStyle/>
          <a:p>
            <a:pPr indent="0" marL="0">
              <a:buNone/>
            </a:pPr>
            <a:r>
              <a:rPr lang="en-US" sz="900" b="1" dirty="0">
                <a:solidFill>
                  <a:srgbClr val="8FD3C8"/>
                </a:solidFill>
                <a:latin typeface="Helvetica" pitchFamily="34" charset="0"/>
                <a:ea typeface="Helvetica" pitchFamily="34" charset="-122"/>
                <a:cs typeface="Helvetica" pitchFamily="34" charset="-120"/>
              </a:rPr>
              <a:t>CORE ENTITIES</a:t>
            </a:r>
            <a:endParaRPr lang="en-US" sz="900" dirty="0"/>
          </a:p>
        </p:txBody>
      </p:sp>
      <p:sp>
        <p:nvSpPr>
          <p:cNvPr id="20" name="Text 18"/>
          <p:cNvSpPr/>
          <p:nvPr/>
        </p:nvSpPr>
        <p:spPr>
          <a:xfrm>
            <a:off x="8549640" y="5010912"/>
            <a:ext cx="2834640" cy="320040"/>
          </a:xfrm>
          <a:prstGeom prst="rect">
            <a:avLst/>
          </a:prstGeom>
          <a:noFill/>
          <a:ln/>
        </p:spPr>
        <p:txBody>
          <a:bodyPr wrap="square" rtlCol="0" anchor="ctr"/>
          <a:lstStyle/>
          <a:p>
            <a:pPr indent="0" marL="0">
              <a:buNone/>
            </a:pPr>
            <a:r>
              <a:rPr lang="en-US" sz="1200" dirty="0">
                <a:solidFill>
                  <a:srgbClr val="FFFFFF"/>
                </a:solidFill>
                <a:latin typeface="Helvetica" pitchFamily="34" charset="0"/>
                <a:ea typeface="Helvetica" pitchFamily="34" charset="-122"/>
                <a:cs typeface="Helvetica" pitchFamily="34" charset="-120"/>
              </a:rPr>
              <a:t>10 tables, 3NF normalized</a:t>
            </a:r>
            <a:endParaRPr lang="en-US" sz="1200" dirty="0"/>
          </a:p>
        </p:txBody>
      </p:sp>
      <p:sp>
        <p:nvSpPr>
          <p:cNvPr id="21" name="Text 19"/>
          <p:cNvSpPr/>
          <p:nvPr/>
        </p:nvSpPr>
        <p:spPr>
          <a:xfrm>
            <a:off x="8549640" y="5358384"/>
            <a:ext cx="2834640" cy="228600"/>
          </a:xfrm>
          <a:prstGeom prst="rect">
            <a:avLst/>
          </a:prstGeom>
          <a:noFill/>
          <a:ln/>
        </p:spPr>
        <p:txBody>
          <a:bodyPr wrap="square" rtlCol="0" anchor="ctr"/>
          <a:lstStyle/>
          <a:p>
            <a:pPr indent="0" marL="0">
              <a:buNone/>
            </a:pPr>
            <a:r>
              <a:rPr lang="en-US" sz="900" b="1" dirty="0">
                <a:solidFill>
                  <a:srgbClr val="8FD3C8"/>
                </a:solidFill>
                <a:latin typeface="Helvetica" pitchFamily="34" charset="0"/>
                <a:ea typeface="Helvetica" pitchFamily="34" charset="-122"/>
                <a:cs typeface="Helvetica" pitchFamily="34" charset="-120"/>
              </a:rPr>
              <a:t>LOGIC LAYER</a:t>
            </a:r>
            <a:endParaRPr lang="en-US" sz="900" dirty="0"/>
          </a:p>
        </p:txBody>
      </p:sp>
      <p:sp>
        <p:nvSpPr>
          <p:cNvPr id="22" name="Text 20"/>
          <p:cNvSpPr/>
          <p:nvPr/>
        </p:nvSpPr>
        <p:spPr>
          <a:xfrm>
            <a:off x="8549640" y="5577840"/>
            <a:ext cx="2834640" cy="320040"/>
          </a:xfrm>
          <a:prstGeom prst="rect">
            <a:avLst/>
          </a:prstGeom>
          <a:noFill/>
          <a:ln/>
        </p:spPr>
        <p:txBody>
          <a:bodyPr wrap="square" rtlCol="0" anchor="ctr"/>
          <a:lstStyle/>
          <a:p>
            <a:pPr indent="0" marL="0">
              <a:buNone/>
            </a:pPr>
            <a:r>
              <a:rPr lang="en-US" sz="1200" dirty="0">
                <a:solidFill>
                  <a:srgbClr val="FFFFFF"/>
                </a:solidFill>
                <a:latin typeface="Helvetica" pitchFamily="34" charset="0"/>
                <a:ea typeface="Helvetica" pitchFamily="34" charset="-122"/>
                <a:cs typeface="Helvetica" pitchFamily="34" charset="-120"/>
              </a:rPr>
              <a:t>Procedures, functions, 1 package</a:t>
            </a:r>
            <a:endParaRPr lang="en-US" sz="1200" dirty="0"/>
          </a:p>
        </p:txBody>
      </p:sp>
      <p:sp>
        <p:nvSpPr>
          <p:cNvPr id="23" name="Text 21"/>
          <p:cNvSpPr/>
          <p:nvPr/>
        </p:nvSpPr>
        <p:spPr>
          <a:xfrm>
            <a:off x="8549640" y="5925312"/>
            <a:ext cx="2834640" cy="228600"/>
          </a:xfrm>
          <a:prstGeom prst="rect">
            <a:avLst/>
          </a:prstGeom>
          <a:noFill/>
          <a:ln/>
        </p:spPr>
        <p:txBody>
          <a:bodyPr wrap="square" rtlCol="0" anchor="ctr"/>
          <a:lstStyle/>
          <a:p>
            <a:pPr indent="0" marL="0">
              <a:buNone/>
            </a:pPr>
            <a:r>
              <a:rPr lang="en-US" sz="900" b="1" dirty="0">
                <a:solidFill>
                  <a:srgbClr val="8FD3C8"/>
                </a:solidFill>
                <a:latin typeface="Helvetica" pitchFamily="34" charset="0"/>
                <a:ea typeface="Helvetica" pitchFamily="34" charset="-122"/>
                <a:cs typeface="Helvetica" pitchFamily="34" charset="-120"/>
              </a:rPr>
              <a:t>CONTROLS</a:t>
            </a:r>
            <a:endParaRPr lang="en-US" sz="900" dirty="0"/>
          </a:p>
        </p:txBody>
      </p:sp>
      <p:sp>
        <p:nvSpPr>
          <p:cNvPr id="24" name="Text 22"/>
          <p:cNvSpPr/>
          <p:nvPr/>
        </p:nvSpPr>
        <p:spPr>
          <a:xfrm>
            <a:off x="8549640" y="6144768"/>
            <a:ext cx="2834640" cy="320040"/>
          </a:xfrm>
          <a:prstGeom prst="rect">
            <a:avLst/>
          </a:prstGeom>
          <a:noFill/>
          <a:ln/>
        </p:spPr>
        <p:txBody>
          <a:bodyPr wrap="square" rtlCol="0" anchor="ctr"/>
          <a:lstStyle/>
          <a:p>
            <a:pPr indent="0" marL="0">
              <a:buNone/>
            </a:pPr>
            <a:r>
              <a:rPr lang="en-US" sz="1200" dirty="0">
                <a:solidFill>
                  <a:srgbClr val="FFFFFF"/>
                </a:solidFill>
                <a:latin typeface="Helvetica" pitchFamily="34" charset="0"/>
                <a:ea typeface="Helvetica" pitchFamily="34" charset="-122"/>
                <a:cs typeface="Helvetica" pitchFamily="34" charset="-120"/>
              </a:rPr>
              <a:t>Compound triggers + audit trail</a:t>
            </a:r>
            <a:endParaRPr lang="en-US" sz="1200" dirty="0"/>
          </a:p>
        </p:txBody>
      </p:sp>
      <p:sp>
        <p:nvSpPr>
          <p:cNvPr id="25" name="Text 23"/>
          <p:cNvSpPr/>
          <p:nvPr/>
        </p:nvSpPr>
        <p:spPr>
          <a:xfrm>
            <a:off x="548640" y="6473952"/>
            <a:ext cx="7315200" cy="274320"/>
          </a:xfrm>
          <a:prstGeom prst="rect">
            <a:avLst/>
          </a:prstGeom>
          <a:noFill/>
          <a:ln/>
        </p:spPr>
        <p:txBody>
          <a:bodyPr wrap="square" rtlCol="0" anchor="ctr"/>
          <a:lstStyle/>
          <a:p>
            <a:pPr indent="0" marL="0">
              <a:buNone/>
            </a:pPr>
            <a:r>
              <a:rPr lang="en-US" sz="1000" dirty="0">
                <a:solidFill>
                  <a:srgbClr val="8FD3C8"/>
                </a:solidFill>
                <a:latin typeface="Helvetica" pitchFamily="34" charset="0"/>
                <a:ea typeface="Helvetica" pitchFamily="34" charset="-122"/>
                <a:cs typeface="Helvetica" pitchFamily="34" charset="-120"/>
              </a:rPr>
              <a:t>Winning (Divin)  |  DPR400210 – Database Programming  |  UNILAK</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1051560"/>
          </a:xfrm>
          <a:prstGeom prst="rect">
            <a:avLst/>
          </a:prstGeom>
          <a:solidFill>
            <a:srgbClr val="1E2F3D"/>
          </a:solidFill>
          <a:ln/>
        </p:spPr>
      </p:sp>
      <p:sp>
        <p:nvSpPr>
          <p:cNvPr id="3" name="Text 1"/>
          <p:cNvSpPr/>
          <p:nvPr/>
        </p:nvSpPr>
        <p:spPr>
          <a:xfrm>
            <a:off x="548640" y="292608"/>
            <a:ext cx="10058400" cy="457200"/>
          </a:xfrm>
          <a:prstGeom prst="rect">
            <a:avLst/>
          </a:prstGeom>
          <a:noFill/>
          <a:ln/>
        </p:spPr>
        <p:txBody>
          <a:bodyPr wrap="square" rtlCol="0" anchor="ctr"/>
          <a:lstStyle/>
          <a:p>
            <a:pPr indent="0" marL="0">
              <a:buNone/>
            </a:pPr>
            <a:r>
              <a:rPr lang="en-US" sz="2400" b="1" dirty="0">
                <a:solidFill>
                  <a:srgbClr val="FFFFFF"/>
                </a:solidFill>
                <a:latin typeface="Helvetica" pitchFamily="34" charset="0"/>
                <a:ea typeface="Helvetica" pitchFamily="34" charset="-122"/>
                <a:cs typeface="Helvetica" pitchFamily="34" charset="-120"/>
              </a:rPr>
              <a:t>TARGET USERS &amp; PROJECT OBJECTIVES</a:t>
            </a:r>
            <a:endParaRPr lang="en-US" sz="2400" dirty="0"/>
          </a:p>
        </p:txBody>
      </p:sp>
      <p:sp>
        <p:nvSpPr>
          <p:cNvPr id="4" name="Text 2"/>
          <p:cNvSpPr/>
          <p:nvPr/>
        </p:nvSpPr>
        <p:spPr>
          <a:xfrm>
            <a:off x="548640" y="1325880"/>
            <a:ext cx="4572000" cy="320040"/>
          </a:xfrm>
          <a:prstGeom prst="rect">
            <a:avLst/>
          </a:prstGeom>
          <a:noFill/>
          <a:ln/>
        </p:spPr>
        <p:txBody>
          <a:bodyPr wrap="square" rtlCol="0" anchor="ctr"/>
          <a:lstStyle/>
          <a:p>
            <a:pPr indent="0" marL="0">
              <a:buNone/>
            </a:pPr>
            <a:r>
              <a:rPr lang="en-US" sz="1400" b="1" spc="150" kern="0" dirty="0">
                <a:solidFill>
                  <a:srgbClr val="028090"/>
                </a:solidFill>
                <a:latin typeface="Helvetica" pitchFamily="34" charset="0"/>
                <a:ea typeface="Helvetica" pitchFamily="34" charset="-122"/>
                <a:cs typeface="Helvetica" pitchFamily="34" charset="-120"/>
              </a:rPr>
              <a:t>TARGET USERS</a:t>
            </a:r>
            <a:endParaRPr lang="en-US" sz="1400" dirty="0"/>
          </a:p>
        </p:txBody>
      </p:sp>
      <p:sp>
        <p:nvSpPr>
          <p:cNvPr id="5" name="Shape 3"/>
          <p:cNvSpPr/>
          <p:nvPr/>
        </p:nvSpPr>
        <p:spPr>
          <a:xfrm>
            <a:off x="548640" y="1783080"/>
            <a:ext cx="5394960" cy="1417320"/>
          </a:xfrm>
          <a:prstGeom prst="roundRect">
            <a:avLst>
              <a:gd name="adj" fmla="val 5161"/>
            </a:avLst>
          </a:prstGeom>
          <a:solidFill>
            <a:srgbClr val="F4FAF9"/>
          </a:solidFill>
          <a:ln w="12700">
            <a:solidFill>
              <a:srgbClr val="D7ECE9"/>
            </a:solidFill>
            <a:prstDash val="solid"/>
          </a:ln>
        </p:spPr>
      </p:sp>
      <p:sp>
        <p:nvSpPr>
          <p:cNvPr id="6" name="Shape 4"/>
          <p:cNvSpPr/>
          <p:nvPr/>
        </p:nvSpPr>
        <p:spPr>
          <a:xfrm>
            <a:off x="777240" y="1984248"/>
            <a:ext cx="384048" cy="384048"/>
          </a:xfrm>
          <a:prstGeom prst="ellipse">
            <a:avLst/>
          </a:prstGeom>
          <a:solidFill>
            <a:srgbClr val="028090"/>
          </a:solidFill>
          <a:ln/>
        </p:spPr>
      </p:sp>
      <p:sp>
        <p:nvSpPr>
          <p:cNvPr id="7" name="Text 5"/>
          <p:cNvSpPr/>
          <p:nvPr/>
        </p:nvSpPr>
        <p:spPr>
          <a:xfrm>
            <a:off x="777240" y="1984248"/>
            <a:ext cx="384048" cy="384048"/>
          </a:xfrm>
          <a:prstGeom prst="rect">
            <a:avLst/>
          </a:prstGeom>
          <a:noFill/>
          <a:ln/>
        </p:spPr>
        <p:txBody>
          <a:bodyPr wrap="square" rtlCol="0" anchor="ctr"/>
          <a:lstStyle/>
          <a:p>
            <a:pPr algn="ctr" indent="0" marL="0">
              <a:buNone/>
            </a:pPr>
            <a:r>
              <a:rPr lang="en-US" sz="1400" b="1" dirty="0">
                <a:solidFill>
                  <a:srgbClr val="FFFFFF"/>
                </a:solidFill>
                <a:latin typeface="Helvetica" pitchFamily="34" charset="0"/>
                <a:ea typeface="Helvetica" pitchFamily="34" charset="-122"/>
                <a:cs typeface="Helvetica" pitchFamily="34" charset="-120"/>
              </a:rPr>
              <a:t>1</a:t>
            </a:r>
            <a:endParaRPr lang="en-US" sz="1400" dirty="0"/>
          </a:p>
        </p:txBody>
      </p:sp>
      <p:sp>
        <p:nvSpPr>
          <p:cNvPr id="8" name="Text 6"/>
          <p:cNvSpPr/>
          <p:nvPr/>
        </p:nvSpPr>
        <p:spPr>
          <a:xfrm>
            <a:off x="1325880" y="1920240"/>
            <a:ext cx="4480560" cy="365760"/>
          </a:xfrm>
          <a:prstGeom prst="rect">
            <a:avLst/>
          </a:prstGeom>
          <a:noFill/>
          <a:ln/>
        </p:spPr>
        <p:txBody>
          <a:bodyPr wrap="square" rtlCol="0" anchor="ctr"/>
          <a:lstStyle/>
          <a:p>
            <a:pPr indent="0" marL="0">
              <a:buNone/>
            </a:pPr>
            <a:r>
              <a:rPr lang="en-US" sz="1350" b="1" dirty="0">
                <a:solidFill>
                  <a:srgbClr val="1E2F3D"/>
                </a:solidFill>
                <a:latin typeface="Helvetica" pitchFamily="34" charset="0"/>
                <a:ea typeface="Helvetica" pitchFamily="34" charset="-122"/>
                <a:cs typeface="Helvetica" pitchFamily="34" charset="-120"/>
              </a:rPr>
              <a:t>Community Health Workers</a:t>
            </a:r>
            <a:endParaRPr lang="en-US" sz="1350" dirty="0"/>
          </a:p>
        </p:txBody>
      </p:sp>
      <p:sp>
        <p:nvSpPr>
          <p:cNvPr id="9" name="Text 7"/>
          <p:cNvSpPr/>
          <p:nvPr/>
        </p:nvSpPr>
        <p:spPr>
          <a:xfrm>
            <a:off x="1325880" y="2286000"/>
            <a:ext cx="4480560" cy="822960"/>
          </a:xfrm>
          <a:prstGeom prst="rect">
            <a:avLst/>
          </a:prstGeom>
          <a:noFill/>
          <a:ln/>
        </p:spPr>
        <p:txBody>
          <a:bodyPr wrap="square" rtlCol="0" anchor="ctr"/>
          <a:lstStyle/>
          <a:p>
            <a:pPr indent="0" marL="0">
              <a:lnSpc>
                <a:spcPts val="1500"/>
              </a:lnSpc>
              <a:buNone/>
            </a:pPr>
            <a:r>
              <a:rPr lang="en-US" sz="1100" dirty="0">
                <a:solidFill>
                  <a:srgbClr val="444444"/>
                </a:solidFill>
                <a:latin typeface="Helvetica" pitchFamily="34" charset="0"/>
                <a:ea typeface="Helvetica" pitchFamily="34" charset="-122"/>
                <a:cs typeface="Helvetica" pitchFamily="34" charset="-120"/>
              </a:rPr>
              <a:t>Log household visits, record topics discussed, and issue referrals from the field.</a:t>
            </a:r>
            <a:endParaRPr lang="en-US" sz="1100" dirty="0"/>
          </a:p>
        </p:txBody>
      </p:sp>
      <p:sp>
        <p:nvSpPr>
          <p:cNvPr id="10" name="Shape 8"/>
          <p:cNvSpPr/>
          <p:nvPr/>
        </p:nvSpPr>
        <p:spPr>
          <a:xfrm>
            <a:off x="548640" y="3383280"/>
            <a:ext cx="5394960" cy="1417320"/>
          </a:xfrm>
          <a:prstGeom prst="roundRect">
            <a:avLst>
              <a:gd name="adj" fmla="val 5161"/>
            </a:avLst>
          </a:prstGeom>
          <a:solidFill>
            <a:srgbClr val="F4FAF9"/>
          </a:solidFill>
          <a:ln w="12700">
            <a:solidFill>
              <a:srgbClr val="D7ECE9"/>
            </a:solidFill>
            <a:prstDash val="solid"/>
          </a:ln>
        </p:spPr>
      </p:sp>
      <p:sp>
        <p:nvSpPr>
          <p:cNvPr id="11" name="Shape 9"/>
          <p:cNvSpPr/>
          <p:nvPr/>
        </p:nvSpPr>
        <p:spPr>
          <a:xfrm>
            <a:off x="777240" y="3584448"/>
            <a:ext cx="384048" cy="384048"/>
          </a:xfrm>
          <a:prstGeom prst="ellipse">
            <a:avLst/>
          </a:prstGeom>
          <a:solidFill>
            <a:srgbClr val="00A896"/>
          </a:solidFill>
          <a:ln/>
        </p:spPr>
      </p:sp>
      <p:sp>
        <p:nvSpPr>
          <p:cNvPr id="12" name="Text 10"/>
          <p:cNvSpPr/>
          <p:nvPr/>
        </p:nvSpPr>
        <p:spPr>
          <a:xfrm>
            <a:off x="777240" y="3584448"/>
            <a:ext cx="384048" cy="384048"/>
          </a:xfrm>
          <a:prstGeom prst="rect">
            <a:avLst/>
          </a:prstGeom>
          <a:noFill/>
          <a:ln/>
        </p:spPr>
        <p:txBody>
          <a:bodyPr wrap="square" rtlCol="0" anchor="ctr"/>
          <a:lstStyle/>
          <a:p>
            <a:pPr algn="ctr" indent="0" marL="0">
              <a:buNone/>
            </a:pPr>
            <a:r>
              <a:rPr lang="en-US" sz="1400" b="1" dirty="0">
                <a:solidFill>
                  <a:srgbClr val="FFFFFF"/>
                </a:solidFill>
                <a:latin typeface="Helvetica" pitchFamily="34" charset="0"/>
                <a:ea typeface="Helvetica" pitchFamily="34" charset="-122"/>
                <a:cs typeface="Helvetica" pitchFamily="34" charset="-120"/>
              </a:rPr>
              <a:t>2</a:t>
            </a:r>
            <a:endParaRPr lang="en-US" sz="1400" dirty="0"/>
          </a:p>
        </p:txBody>
      </p:sp>
      <p:sp>
        <p:nvSpPr>
          <p:cNvPr id="13" name="Text 11"/>
          <p:cNvSpPr/>
          <p:nvPr/>
        </p:nvSpPr>
        <p:spPr>
          <a:xfrm>
            <a:off x="1325880" y="3520440"/>
            <a:ext cx="4480560" cy="365760"/>
          </a:xfrm>
          <a:prstGeom prst="rect">
            <a:avLst/>
          </a:prstGeom>
          <a:noFill/>
          <a:ln/>
        </p:spPr>
        <p:txBody>
          <a:bodyPr wrap="square" rtlCol="0" anchor="ctr"/>
          <a:lstStyle/>
          <a:p>
            <a:pPr indent="0" marL="0">
              <a:buNone/>
            </a:pPr>
            <a:r>
              <a:rPr lang="en-US" sz="1350" b="1" dirty="0">
                <a:solidFill>
                  <a:srgbClr val="1E2F3D"/>
                </a:solidFill>
                <a:latin typeface="Helvetica" pitchFamily="34" charset="0"/>
                <a:ea typeface="Helvetica" pitchFamily="34" charset="-122"/>
                <a:cs typeface="Helvetica" pitchFamily="34" charset="-120"/>
              </a:rPr>
              <a:t>Program Coordinators</a:t>
            </a:r>
            <a:endParaRPr lang="en-US" sz="1350" dirty="0"/>
          </a:p>
        </p:txBody>
      </p:sp>
      <p:sp>
        <p:nvSpPr>
          <p:cNvPr id="14" name="Text 12"/>
          <p:cNvSpPr/>
          <p:nvPr/>
        </p:nvSpPr>
        <p:spPr>
          <a:xfrm>
            <a:off x="1325880" y="3886200"/>
            <a:ext cx="4480560" cy="822960"/>
          </a:xfrm>
          <a:prstGeom prst="rect">
            <a:avLst/>
          </a:prstGeom>
          <a:noFill/>
          <a:ln/>
        </p:spPr>
        <p:txBody>
          <a:bodyPr wrap="square" rtlCol="0" anchor="ctr"/>
          <a:lstStyle/>
          <a:p>
            <a:pPr indent="0" marL="0">
              <a:lnSpc>
                <a:spcPts val="1500"/>
              </a:lnSpc>
              <a:buNone/>
            </a:pPr>
            <a:r>
              <a:rPr lang="en-US" sz="1100" dirty="0">
                <a:solidFill>
                  <a:srgbClr val="444444"/>
                </a:solidFill>
                <a:latin typeface="Helvetica" pitchFamily="34" charset="0"/>
                <a:ea typeface="Helvetica" pitchFamily="34" charset="-122"/>
                <a:cs typeface="Helvetica" pitchFamily="34" charset="-120"/>
              </a:rPr>
              <a:t>Monitor coverage gaps, referral completion rates, and district-level performance.</a:t>
            </a:r>
            <a:endParaRPr lang="en-US" sz="1100" dirty="0"/>
          </a:p>
        </p:txBody>
      </p:sp>
      <p:sp>
        <p:nvSpPr>
          <p:cNvPr id="15" name="Shape 13"/>
          <p:cNvSpPr/>
          <p:nvPr/>
        </p:nvSpPr>
        <p:spPr>
          <a:xfrm>
            <a:off x="548640" y="4983480"/>
            <a:ext cx="5394960" cy="1417320"/>
          </a:xfrm>
          <a:prstGeom prst="roundRect">
            <a:avLst>
              <a:gd name="adj" fmla="val 5161"/>
            </a:avLst>
          </a:prstGeom>
          <a:solidFill>
            <a:srgbClr val="F4FAF9"/>
          </a:solidFill>
          <a:ln w="12700">
            <a:solidFill>
              <a:srgbClr val="D7ECE9"/>
            </a:solidFill>
            <a:prstDash val="solid"/>
          </a:ln>
        </p:spPr>
      </p:sp>
      <p:sp>
        <p:nvSpPr>
          <p:cNvPr id="16" name="Shape 14"/>
          <p:cNvSpPr/>
          <p:nvPr/>
        </p:nvSpPr>
        <p:spPr>
          <a:xfrm>
            <a:off x="777240" y="5184648"/>
            <a:ext cx="384048" cy="384048"/>
          </a:xfrm>
          <a:prstGeom prst="ellipse">
            <a:avLst/>
          </a:prstGeom>
          <a:solidFill>
            <a:srgbClr val="02C39A"/>
          </a:solidFill>
          <a:ln/>
        </p:spPr>
      </p:sp>
      <p:sp>
        <p:nvSpPr>
          <p:cNvPr id="17" name="Text 15"/>
          <p:cNvSpPr/>
          <p:nvPr/>
        </p:nvSpPr>
        <p:spPr>
          <a:xfrm>
            <a:off x="777240" y="5184648"/>
            <a:ext cx="384048" cy="384048"/>
          </a:xfrm>
          <a:prstGeom prst="rect">
            <a:avLst/>
          </a:prstGeom>
          <a:noFill/>
          <a:ln/>
        </p:spPr>
        <p:txBody>
          <a:bodyPr wrap="square" rtlCol="0" anchor="ctr"/>
          <a:lstStyle/>
          <a:p>
            <a:pPr algn="ctr" indent="0" marL="0">
              <a:buNone/>
            </a:pPr>
            <a:r>
              <a:rPr lang="en-US" sz="1400" b="1" dirty="0">
                <a:solidFill>
                  <a:srgbClr val="FFFFFF"/>
                </a:solidFill>
                <a:latin typeface="Helvetica" pitchFamily="34" charset="0"/>
                <a:ea typeface="Helvetica" pitchFamily="34" charset="-122"/>
                <a:cs typeface="Helvetica" pitchFamily="34" charset="-120"/>
              </a:rPr>
              <a:t>3</a:t>
            </a:r>
            <a:endParaRPr lang="en-US" sz="1400" dirty="0"/>
          </a:p>
        </p:txBody>
      </p:sp>
      <p:sp>
        <p:nvSpPr>
          <p:cNvPr id="18" name="Text 16"/>
          <p:cNvSpPr/>
          <p:nvPr/>
        </p:nvSpPr>
        <p:spPr>
          <a:xfrm>
            <a:off x="1325880" y="5120640"/>
            <a:ext cx="4480560" cy="365760"/>
          </a:xfrm>
          <a:prstGeom prst="rect">
            <a:avLst/>
          </a:prstGeom>
          <a:noFill/>
          <a:ln/>
        </p:spPr>
        <p:txBody>
          <a:bodyPr wrap="square" rtlCol="0" anchor="ctr"/>
          <a:lstStyle/>
          <a:p>
            <a:pPr indent="0" marL="0">
              <a:buNone/>
            </a:pPr>
            <a:r>
              <a:rPr lang="en-US" sz="1350" b="1" dirty="0">
                <a:solidFill>
                  <a:srgbClr val="1E2F3D"/>
                </a:solidFill>
                <a:latin typeface="Helvetica" pitchFamily="34" charset="0"/>
                <a:ea typeface="Helvetica" pitchFamily="34" charset="-122"/>
                <a:cs typeface="Helvetica" pitchFamily="34" charset="-120"/>
              </a:rPr>
              <a:t>Partner Health Facilities</a:t>
            </a:r>
            <a:endParaRPr lang="en-US" sz="1350" dirty="0"/>
          </a:p>
        </p:txBody>
      </p:sp>
      <p:sp>
        <p:nvSpPr>
          <p:cNvPr id="19" name="Text 17"/>
          <p:cNvSpPr/>
          <p:nvPr/>
        </p:nvSpPr>
        <p:spPr>
          <a:xfrm>
            <a:off x="1325880" y="5486400"/>
            <a:ext cx="4480560" cy="822960"/>
          </a:xfrm>
          <a:prstGeom prst="rect">
            <a:avLst/>
          </a:prstGeom>
          <a:noFill/>
          <a:ln/>
        </p:spPr>
        <p:txBody>
          <a:bodyPr wrap="square" rtlCol="0" anchor="ctr"/>
          <a:lstStyle/>
          <a:p>
            <a:pPr indent="0" marL="0">
              <a:lnSpc>
                <a:spcPts val="1500"/>
              </a:lnSpc>
              <a:buNone/>
            </a:pPr>
            <a:r>
              <a:rPr lang="en-US" sz="1100" dirty="0">
                <a:solidFill>
                  <a:srgbClr val="444444"/>
                </a:solidFill>
                <a:latin typeface="Helvetica" pitchFamily="34" charset="0"/>
                <a:ea typeface="Helvetica" pitchFamily="34" charset="-122"/>
                <a:cs typeface="Helvetica" pitchFamily="34" charset="-120"/>
              </a:rPr>
              <a:t>Receive and act on referrals, close the loop on patient outcomes.</a:t>
            </a:r>
            <a:endParaRPr lang="en-US" sz="1100" dirty="0"/>
          </a:p>
        </p:txBody>
      </p:sp>
      <p:sp>
        <p:nvSpPr>
          <p:cNvPr id="20" name="Shape 18"/>
          <p:cNvSpPr/>
          <p:nvPr/>
        </p:nvSpPr>
        <p:spPr>
          <a:xfrm>
            <a:off x="6309360" y="1371600"/>
            <a:ext cx="0" cy="5074920"/>
          </a:xfrm>
          <a:prstGeom prst="line">
            <a:avLst/>
          </a:prstGeom>
          <a:noFill/>
          <a:ln w="12700">
            <a:solidFill>
              <a:srgbClr val="D9D9D9"/>
            </a:solidFill>
            <a:prstDash val="solid"/>
          </a:ln>
        </p:spPr>
      </p:sp>
      <p:sp>
        <p:nvSpPr>
          <p:cNvPr id="21" name="Text 19"/>
          <p:cNvSpPr/>
          <p:nvPr/>
        </p:nvSpPr>
        <p:spPr>
          <a:xfrm>
            <a:off x="6629400" y="1325880"/>
            <a:ext cx="5029200" cy="320040"/>
          </a:xfrm>
          <a:prstGeom prst="rect">
            <a:avLst/>
          </a:prstGeom>
          <a:noFill/>
          <a:ln/>
        </p:spPr>
        <p:txBody>
          <a:bodyPr wrap="square" rtlCol="0" anchor="ctr"/>
          <a:lstStyle/>
          <a:p>
            <a:pPr indent="0" marL="0">
              <a:buNone/>
            </a:pPr>
            <a:r>
              <a:rPr lang="en-US" sz="1400" b="1" spc="150" kern="0" dirty="0">
                <a:solidFill>
                  <a:srgbClr val="028090"/>
                </a:solidFill>
                <a:latin typeface="Helvetica" pitchFamily="34" charset="0"/>
                <a:ea typeface="Helvetica" pitchFamily="34" charset="-122"/>
                <a:cs typeface="Helvetica" pitchFamily="34" charset="-120"/>
              </a:rPr>
              <a:t>PROJECT OBJECTIVES</a:t>
            </a:r>
            <a:endParaRPr lang="en-US" sz="1400" dirty="0"/>
          </a:p>
        </p:txBody>
      </p:sp>
      <p:sp>
        <p:nvSpPr>
          <p:cNvPr id="22" name="Shape 20"/>
          <p:cNvSpPr/>
          <p:nvPr/>
        </p:nvSpPr>
        <p:spPr>
          <a:xfrm>
            <a:off x="6629400" y="1783080"/>
            <a:ext cx="256032" cy="256032"/>
          </a:xfrm>
          <a:prstGeom prst="roundRect">
            <a:avLst>
              <a:gd name="adj" fmla="val 100000"/>
            </a:avLst>
          </a:prstGeom>
          <a:solidFill>
            <a:srgbClr val="02C39A"/>
          </a:solidFill>
          <a:ln/>
        </p:spPr>
      </p:sp>
      <p:sp>
        <p:nvSpPr>
          <p:cNvPr id="23" name="Text 21"/>
          <p:cNvSpPr/>
          <p:nvPr/>
        </p:nvSpPr>
        <p:spPr>
          <a:xfrm>
            <a:off x="7086600" y="1691640"/>
            <a:ext cx="4572000" cy="777240"/>
          </a:xfrm>
          <a:prstGeom prst="rect">
            <a:avLst/>
          </a:prstGeom>
          <a:noFill/>
          <a:ln/>
        </p:spPr>
        <p:txBody>
          <a:bodyPr wrap="square" rtlCol="0" anchor="t"/>
          <a:lstStyle/>
          <a:p>
            <a:pPr indent="0" marL="0">
              <a:lnSpc>
                <a:spcPts val="1500"/>
              </a:lnSpc>
              <a:buNone/>
            </a:pPr>
            <a:r>
              <a:rPr lang="en-US" sz="1200" dirty="0">
                <a:solidFill>
                  <a:srgbClr val="333333"/>
                </a:solidFill>
                <a:latin typeface="Helvetica" pitchFamily="34" charset="0"/>
                <a:ea typeface="Helvetica" pitchFamily="34" charset="-122"/>
                <a:cs typeface="Helvetica" pitchFamily="34" charset="-120"/>
              </a:rPr>
              <a:t>Digitize and centralize CHW household-visit and referral records in a normalized Oracle database.</a:t>
            </a:r>
            <a:endParaRPr lang="en-US" sz="1200" dirty="0"/>
          </a:p>
        </p:txBody>
      </p:sp>
      <p:sp>
        <p:nvSpPr>
          <p:cNvPr id="24" name="Shape 22"/>
          <p:cNvSpPr/>
          <p:nvPr/>
        </p:nvSpPr>
        <p:spPr>
          <a:xfrm>
            <a:off x="6629400" y="2715768"/>
            <a:ext cx="256032" cy="256032"/>
          </a:xfrm>
          <a:prstGeom prst="roundRect">
            <a:avLst>
              <a:gd name="adj" fmla="val 100000"/>
            </a:avLst>
          </a:prstGeom>
          <a:solidFill>
            <a:srgbClr val="02C39A"/>
          </a:solidFill>
          <a:ln/>
        </p:spPr>
      </p:sp>
      <p:sp>
        <p:nvSpPr>
          <p:cNvPr id="25" name="Text 23"/>
          <p:cNvSpPr/>
          <p:nvPr/>
        </p:nvSpPr>
        <p:spPr>
          <a:xfrm>
            <a:off x="7086600" y="2624328"/>
            <a:ext cx="4572000" cy="777240"/>
          </a:xfrm>
          <a:prstGeom prst="rect">
            <a:avLst/>
          </a:prstGeom>
          <a:noFill/>
          <a:ln/>
        </p:spPr>
        <p:txBody>
          <a:bodyPr wrap="square" rtlCol="0" anchor="t"/>
          <a:lstStyle/>
          <a:p>
            <a:pPr indent="0" marL="0">
              <a:lnSpc>
                <a:spcPts val="1500"/>
              </a:lnSpc>
              <a:buNone/>
            </a:pPr>
            <a:r>
              <a:rPr lang="en-US" sz="1200" dirty="0">
                <a:solidFill>
                  <a:srgbClr val="333333"/>
                </a:solidFill>
                <a:latin typeface="Helvetica" pitchFamily="34" charset="0"/>
                <a:ea typeface="Helvetica" pitchFamily="34" charset="-122"/>
                <a:cs typeface="Helvetica" pitchFamily="34" charset="-120"/>
              </a:rPr>
              <a:t>Enforce data integrity and business rules (constraints, weekday/holiday restrictions, audit logging).</a:t>
            </a:r>
            <a:endParaRPr lang="en-US" sz="1200" dirty="0"/>
          </a:p>
        </p:txBody>
      </p:sp>
      <p:sp>
        <p:nvSpPr>
          <p:cNvPr id="26" name="Shape 24"/>
          <p:cNvSpPr/>
          <p:nvPr/>
        </p:nvSpPr>
        <p:spPr>
          <a:xfrm>
            <a:off x="6629400" y="3648456"/>
            <a:ext cx="256032" cy="256032"/>
          </a:xfrm>
          <a:prstGeom prst="roundRect">
            <a:avLst>
              <a:gd name="adj" fmla="val 100000"/>
            </a:avLst>
          </a:prstGeom>
          <a:solidFill>
            <a:srgbClr val="02C39A"/>
          </a:solidFill>
          <a:ln/>
        </p:spPr>
      </p:sp>
      <p:sp>
        <p:nvSpPr>
          <p:cNvPr id="27" name="Text 25"/>
          <p:cNvSpPr/>
          <p:nvPr/>
        </p:nvSpPr>
        <p:spPr>
          <a:xfrm>
            <a:off x="7086600" y="3557016"/>
            <a:ext cx="4572000" cy="777240"/>
          </a:xfrm>
          <a:prstGeom prst="rect">
            <a:avLst/>
          </a:prstGeom>
          <a:noFill/>
          <a:ln/>
        </p:spPr>
        <p:txBody>
          <a:bodyPr wrap="square" rtlCol="0" anchor="t"/>
          <a:lstStyle/>
          <a:p>
            <a:pPr indent="0" marL="0">
              <a:lnSpc>
                <a:spcPts val="1500"/>
              </a:lnSpc>
              <a:buNone/>
            </a:pPr>
            <a:r>
              <a:rPr lang="en-US" sz="1200" dirty="0">
                <a:solidFill>
                  <a:srgbClr val="333333"/>
                </a:solidFill>
                <a:latin typeface="Helvetica" pitchFamily="34" charset="0"/>
                <a:ea typeface="Helvetica" pitchFamily="34" charset="-122"/>
                <a:cs typeface="Helvetica" pitchFamily="34" charset="-120"/>
              </a:rPr>
              <a:t>Automate referral workflow and completion tracking through reusable PL/SQL procedures and a package.</a:t>
            </a:r>
            <a:endParaRPr lang="en-US" sz="1200" dirty="0"/>
          </a:p>
        </p:txBody>
      </p:sp>
      <p:sp>
        <p:nvSpPr>
          <p:cNvPr id="28" name="Shape 26"/>
          <p:cNvSpPr/>
          <p:nvPr/>
        </p:nvSpPr>
        <p:spPr>
          <a:xfrm>
            <a:off x="6629400" y="4581144"/>
            <a:ext cx="256032" cy="256032"/>
          </a:xfrm>
          <a:prstGeom prst="roundRect">
            <a:avLst>
              <a:gd name="adj" fmla="val 100000"/>
            </a:avLst>
          </a:prstGeom>
          <a:solidFill>
            <a:srgbClr val="02C39A"/>
          </a:solidFill>
          <a:ln/>
        </p:spPr>
      </p:sp>
      <p:sp>
        <p:nvSpPr>
          <p:cNvPr id="29" name="Text 27"/>
          <p:cNvSpPr/>
          <p:nvPr/>
        </p:nvSpPr>
        <p:spPr>
          <a:xfrm>
            <a:off x="7086600" y="4489704"/>
            <a:ext cx="4572000" cy="777240"/>
          </a:xfrm>
          <a:prstGeom prst="rect">
            <a:avLst/>
          </a:prstGeom>
          <a:noFill/>
          <a:ln/>
        </p:spPr>
        <p:txBody>
          <a:bodyPr wrap="square" rtlCol="0" anchor="t"/>
          <a:lstStyle/>
          <a:p>
            <a:pPr indent="0" marL="0">
              <a:lnSpc>
                <a:spcPts val="1500"/>
              </a:lnSpc>
              <a:buNone/>
            </a:pPr>
            <a:r>
              <a:rPr lang="en-US" sz="1200" dirty="0">
                <a:solidFill>
                  <a:srgbClr val="333333"/>
                </a:solidFill>
                <a:latin typeface="Helvetica" pitchFamily="34" charset="0"/>
                <a:ea typeface="Helvetica" pitchFamily="34" charset="-122"/>
                <a:cs typeface="Helvetica" pitchFamily="34" charset="-120"/>
              </a:rPr>
              <a:t>Surface coverage gaps and completion rates to coordinators through Power BI-ready reporting views.</a:t>
            </a:r>
            <a:endParaRPr lang="en-US" sz="1200" dirty="0"/>
          </a:p>
        </p:txBody>
      </p:sp>
      <p:sp>
        <p:nvSpPr>
          <p:cNvPr id="30" name="Shape 28"/>
          <p:cNvSpPr/>
          <p:nvPr/>
        </p:nvSpPr>
        <p:spPr>
          <a:xfrm>
            <a:off x="6629400" y="5513832"/>
            <a:ext cx="256032" cy="256032"/>
          </a:xfrm>
          <a:prstGeom prst="roundRect">
            <a:avLst>
              <a:gd name="adj" fmla="val 100000"/>
            </a:avLst>
          </a:prstGeom>
          <a:solidFill>
            <a:srgbClr val="02C39A"/>
          </a:solidFill>
          <a:ln/>
        </p:spPr>
      </p:sp>
      <p:sp>
        <p:nvSpPr>
          <p:cNvPr id="31" name="Text 29"/>
          <p:cNvSpPr/>
          <p:nvPr/>
        </p:nvSpPr>
        <p:spPr>
          <a:xfrm>
            <a:off x="7086600" y="5422392"/>
            <a:ext cx="4572000" cy="777240"/>
          </a:xfrm>
          <a:prstGeom prst="rect">
            <a:avLst/>
          </a:prstGeom>
          <a:noFill/>
          <a:ln/>
        </p:spPr>
        <p:txBody>
          <a:bodyPr wrap="square" rtlCol="0" anchor="t"/>
          <a:lstStyle/>
          <a:p>
            <a:pPr indent="0" marL="0">
              <a:lnSpc>
                <a:spcPts val="1500"/>
              </a:lnSpc>
              <a:buNone/>
            </a:pPr>
            <a:r>
              <a:rPr lang="en-US" sz="1200" dirty="0">
                <a:solidFill>
                  <a:srgbClr val="333333"/>
                </a:solidFill>
                <a:latin typeface="Helvetica" pitchFamily="34" charset="0"/>
                <a:ea typeface="Helvetica" pitchFamily="34" charset="-122"/>
                <a:cs typeface="Helvetica" pitchFamily="34" charset="-120"/>
              </a:rPr>
              <a:t>Deliver a system simple enough to explain, defend, and demo live during the capstone exam.</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E2F3D"/>
        </a:solidFill>
      </p:bgPr>
    </p:bg>
    <p:spTree>
      <p:nvGrpSpPr>
        <p:cNvPr id="1" name=""/>
        <p:cNvGrpSpPr/>
        <p:nvPr/>
      </p:nvGrpSpPr>
      <p:grpSpPr>
        <a:xfrm>
          <a:off x="0" y="0"/>
          <a:ext cx="0" cy="0"/>
          <a:chOff x="0" y="0"/>
          <a:chExt cx="0" cy="0"/>
        </a:xfrm>
      </p:grpSpPr>
      <p:sp>
        <p:nvSpPr>
          <p:cNvPr id="2" name="Text 0"/>
          <p:cNvSpPr/>
          <p:nvPr/>
        </p:nvSpPr>
        <p:spPr>
          <a:xfrm>
            <a:off x="548640" y="411480"/>
            <a:ext cx="9144000" cy="502920"/>
          </a:xfrm>
          <a:prstGeom prst="rect">
            <a:avLst/>
          </a:prstGeom>
          <a:noFill/>
          <a:ln/>
        </p:spPr>
        <p:txBody>
          <a:bodyPr wrap="square" rtlCol="0" anchor="ctr"/>
          <a:lstStyle/>
          <a:p>
            <a:pPr indent="0" marL="0">
              <a:buNone/>
            </a:pPr>
            <a:r>
              <a:rPr lang="en-US" sz="2600" b="1" dirty="0">
                <a:solidFill>
                  <a:srgbClr val="FFFFFF"/>
                </a:solidFill>
                <a:latin typeface="Helvetica" pitchFamily="34" charset="0"/>
                <a:ea typeface="Helvetica" pitchFamily="34" charset="-122"/>
                <a:cs typeface="Helvetica" pitchFamily="34" charset="-120"/>
              </a:rPr>
              <a:t>EXPECTED BENEFITS</a:t>
            </a:r>
            <a:endParaRPr lang="en-US" sz="2600" dirty="0"/>
          </a:p>
        </p:txBody>
      </p:sp>
      <p:sp>
        <p:nvSpPr>
          <p:cNvPr id="3" name="Text 1"/>
          <p:cNvSpPr/>
          <p:nvPr/>
        </p:nvSpPr>
        <p:spPr>
          <a:xfrm>
            <a:off x="548640" y="914400"/>
            <a:ext cx="9144000" cy="365760"/>
          </a:xfrm>
          <a:prstGeom prst="rect">
            <a:avLst/>
          </a:prstGeom>
          <a:noFill/>
          <a:ln/>
        </p:spPr>
        <p:txBody>
          <a:bodyPr wrap="square" rtlCol="0" anchor="ctr"/>
          <a:lstStyle/>
          <a:p>
            <a:pPr indent="0" marL="0">
              <a:buNone/>
            </a:pPr>
            <a:r>
              <a:rPr lang="en-US" sz="1300" i="1" dirty="0">
                <a:solidFill>
                  <a:srgbClr val="8FD3C8"/>
                </a:solidFill>
                <a:latin typeface="Helvetica" pitchFamily="34" charset="0"/>
                <a:ea typeface="Helvetica" pitchFamily="34" charset="-122"/>
                <a:cs typeface="Helvetica" pitchFamily="34" charset="-120"/>
              </a:rPr>
              <a:t>Why a database-driven CHW tracking system matters</a:t>
            </a:r>
            <a:endParaRPr lang="en-US" sz="1300" dirty="0"/>
          </a:p>
        </p:txBody>
      </p:sp>
      <p:sp>
        <p:nvSpPr>
          <p:cNvPr id="4" name="Shape 2"/>
          <p:cNvSpPr/>
          <p:nvPr/>
        </p:nvSpPr>
        <p:spPr>
          <a:xfrm>
            <a:off x="548640" y="1508760"/>
            <a:ext cx="3611880" cy="2286000"/>
          </a:xfrm>
          <a:prstGeom prst="roundRect">
            <a:avLst>
              <a:gd name="adj" fmla="val 4000"/>
            </a:avLst>
          </a:prstGeom>
          <a:solidFill>
            <a:srgbClr val="FFFFFF">
              <a:alpha val="94000"/>
            </a:srgbClr>
          </a:solidFill>
          <a:ln w="12700">
            <a:solidFill>
              <a:srgbClr val="1F5F63"/>
            </a:solidFill>
            <a:prstDash val="solid"/>
          </a:ln>
        </p:spPr>
      </p:sp>
      <p:sp>
        <p:nvSpPr>
          <p:cNvPr id="5" name="Shape 3"/>
          <p:cNvSpPr/>
          <p:nvPr/>
        </p:nvSpPr>
        <p:spPr>
          <a:xfrm>
            <a:off x="777240" y="1737360"/>
            <a:ext cx="457200" cy="457200"/>
          </a:xfrm>
          <a:prstGeom prst="roundRect">
            <a:avLst>
              <a:gd name="adj" fmla="val 100000"/>
            </a:avLst>
          </a:prstGeom>
          <a:solidFill>
            <a:srgbClr val="028090"/>
          </a:solidFill>
          <a:ln/>
        </p:spPr>
      </p:sp>
      <p:sp>
        <p:nvSpPr>
          <p:cNvPr id="6" name="Text 4"/>
          <p:cNvSpPr/>
          <p:nvPr/>
        </p:nvSpPr>
        <p:spPr>
          <a:xfrm>
            <a:off x="777240" y="1737360"/>
            <a:ext cx="457200" cy="457200"/>
          </a:xfrm>
          <a:prstGeom prst="rect">
            <a:avLst/>
          </a:prstGeom>
          <a:noFill/>
          <a:ln/>
        </p:spPr>
        <p:txBody>
          <a:bodyPr wrap="square" rtlCol="0" anchor="ctr"/>
          <a:lstStyle/>
          <a:p>
            <a:pPr algn="ctr" indent="0" marL="0">
              <a:buNone/>
            </a:pPr>
            <a:r>
              <a:rPr lang="en-US" sz="1500" b="1" dirty="0">
                <a:solidFill>
                  <a:srgbClr val="FFFFFF"/>
                </a:solidFill>
                <a:latin typeface="Helvetica" pitchFamily="34" charset="0"/>
                <a:ea typeface="Helvetica" pitchFamily="34" charset="-122"/>
                <a:cs typeface="Helvetica" pitchFamily="34" charset="-120"/>
              </a:rPr>
              <a:t>1</a:t>
            </a:r>
            <a:endParaRPr lang="en-US" sz="1500" dirty="0"/>
          </a:p>
        </p:txBody>
      </p:sp>
      <p:sp>
        <p:nvSpPr>
          <p:cNvPr id="7" name="Text 5"/>
          <p:cNvSpPr/>
          <p:nvPr/>
        </p:nvSpPr>
        <p:spPr>
          <a:xfrm>
            <a:off x="777240" y="2331720"/>
            <a:ext cx="3154680" cy="365760"/>
          </a:xfrm>
          <a:prstGeom prst="rect">
            <a:avLst/>
          </a:prstGeom>
          <a:noFill/>
          <a:ln/>
        </p:spPr>
        <p:txBody>
          <a:bodyPr wrap="square" rtlCol="0" anchor="ctr"/>
          <a:lstStyle/>
          <a:p>
            <a:pPr indent="0" marL="0">
              <a:buNone/>
            </a:pPr>
            <a:r>
              <a:rPr lang="en-US" sz="1400" b="1" dirty="0">
                <a:solidFill>
                  <a:srgbClr val="FFFFFF"/>
                </a:solidFill>
                <a:latin typeface="Helvetica" pitchFamily="34" charset="0"/>
                <a:ea typeface="Helvetica" pitchFamily="34" charset="-122"/>
                <a:cs typeface="Helvetica" pitchFamily="34" charset="-120"/>
              </a:rPr>
              <a:t>Visibility</a:t>
            </a:r>
            <a:endParaRPr lang="en-US" sz="1400" dirty="0"/>
          </a:p>
        </p:txBody>
      </p:sp>
      <p:sp>
        <p:nvSpPr>
          <p:cNvPr id="8" name="Text 6"/>
          <p:cNvSpPr/>
          <p:nvPr/>
        </p:nvSpPr>
        <p:spPr>
          <a:xfrm>
            <a:off x="777240" y="2697480"/>
            <a:ext cx="3154680" cy="1005840"/>
          </a:xfrm>
          <a:prstGeom prst="rect">
            <a:avLst/>
          </a:prstGeom>
          <a:noFill/>
          <a:ln/>
        </p:spPr>
        <p:txBody>
          <a:bodyPr wrap="square" rtlCol="0" anchor="ctr"/>
          <a:lstStyle/>
          <a:p>
            <a:pPr indent="0" marL="0">
              <a:lnSpc>
                <a:spcPts val="1400"/>
              </a:lnSpc>
              <a:buNone/>
            </a:pPr>
            <a:r>
              <a:rPr lang="en-US" sz="1050" dirty="0">
                <a:solidFill>
                  <a:srgbClr val="CADCFC"/>
                </a:solidFill>
                <a:latin typeface="Helvetica" pitchFamily="34" charset="0"/>
                <a:ea typeface="Helvetica" pitchFamily="34" charset="-122"/>
                <a:cs typeface="Helvetica" pitchFamily="34" charset="-120"/>
              </a:rPr>
              <a:t>Coordinators instantly see which households have gaps in coverage, instead of discovering it months later.</a:t>
            </a:r>
            <a:endParaRPr lang="en-US" sz="1050" dirty="0"/>
          </a:p>
        </p:txBody>
      </p:sp>
      <p:sp>
        <p:nvSpPr>
          <p:cNvPr id="9" name="Shape 7"/>
          <p:cNvSpPr/>
          <p:nvPr/>
        </p:nvSpPr>
        <p:spPr>
          <a:xfrm>
            <a:off x="4389120" y="1508760"/>
            <a:ext cx="3611880" cy="2286000"/>
          </a:xfrm>
          <a:prstGeom prst="roundRect">
            <a:avLst>
              <a:gd name="adj" fmla="val 4000"/>
            </a:avLst>
          </a:prstGeom>
          <a:solidFill>
            <a:srgbClr val="FFFFFF">
              <a:alpha val="94000"/>
            </a:srgbClr>
          </a:solidFill>
          <a:ln w="12700">
            <a:solidFill>
              <a:srgbClr val="1F5F63"/>
            </a:solidFill>
            <a:prstDash val="solid"/>
          </a:ln>
        </p:spPr>
      </p:sp>
      <p:sp>
        <p:nvSpPr>
          <p:cNvPr id="10" name="Shape 8"/>
          <p:cNvSpPr/>
          <p:nvPr/>
        </p:nvSpPr>
        <p:spPr>
          <a:xfrm>
            <a:off x="4617720" y="1737360"/>
            <a:ext cx="457200" cy="457200"/>
          </a:xfrm>
          <a:prstGeom prst="roundRect">
            <a:avLst>
              <a:gd name="adj" fmla="val 100000"/>
            </a:avLst>
          </a:prstGeom>
          <a:solidFill>
            <a:srgbClr val="00A896"/>
          </a:solidFill>
          <a:ln/>
        </p:spPr>
      </p:sp>
      <p:sp>
        <p:nvSpPr>
          <p:cNvPr id="11" name="Text 9"/>
          <p:cNvSpPr/>
          <p:nvPr/>
        </p:nvSpPr>
        <p:spPr>
          <a:xfrm>
            <a:off x="4617720" y="1737360"/>
            <a:ext cx="457200" cy="457200"/>
          </a:xfrm>
          <a:prstGeom prst="rect">
            <a:avLst/>
          </a:prstGeom>
          <a:noFill/>
          <a:ln/>
        </p:spPr>
        <p:txBody>
          <a:bodyPr wrap="square" rtlCol="0" anchor="ctr"/>
          <a:lstStyle/>
          <a:p>
            <a:pPr algn="ctr" indent="0" marL="0">
              <a:buNone/>
            </a:pPr>
            <a:r>
              <a:rPr lang="en-US" sz="1500" b="1" dirty="0">
                <a:solidFill>
                  <a:srgbClr val="FFFFFF"/>
                </a:solidFill>
                <a:latin typeface="Helvetica" pitchFamily="34" charset="0"/>
                <a:ea typeface="Helvetica" pitchFamily="34" charset="-122"/>
                <a:cs typeface="Helvetica" pitchFamily="34" charset="-120"/>
              </a:rPr>
              <a:t>2</a:t>
            </a:r>
            <a:endParaRPr lang="en-US" sz="1500" dirty="0"/>
          </a:p>
        </p:txBody>
      </p:sp>
      <p:sp>
        <p:nvSpPr>
          <p:cNvPr id="12" name="Text 10"/>
          <p:cNvSpPr/>
          <p:nvPr/>
        </p:nvSpPr>
        <p:spPr>
          <a:xfrm>
            <a:off x="4617720" y="2331720"/>
            <a:ext cx="3154680" cy="365760"/>
          </a:xfrm>
          <a:prstGeom prst="rect">
            <a:avLst/>
          </a:prstGeom>
          <a:noFill/>
          <a:ln/>
        </p:spPr>
        <p:txBody>
          <a:bodyPr wrap="square" rtlCol="0" anchor="ctr"/>
          <a:lstStyle/>
          <a:p>
            <a:pPr indent="0" marL="0">
              <a:buNone/>
            </a:pPr>
            <a:r>
              <a:rPr lang="en-US" sz="1400" b="1" dirty="0">
                <a:solidFill>
                  <a:srgbClr val="FFFFFF"/>
                </a:solidFill>
                <a:latin typeface="Helvetica" pitchFamily="34" charset="0"/>
                <a:ea typeface="Helvetica" pitchFamily="34" charset="-122"/>
                <a:cs typeface="Helvetica" pitchFamily="34" charset="-120"/>
              </a:rPr>
              <a:t>Accountability</a:t>
            </a:r>
            <a:endParaRPr lang="en-US" sz="1400" dirty="0"/>
          </a:p>
        </p:txBody>
      </p:sp>
      <p:sp>
        <p:nvSpPr>
          <p:cNvPr id="13" name="Text 11"/>
          <p:cNvSpPr/>
          <p:nvPr/>
        </p:nvSpPr>
        <p:spPr>
          <a:xfrm>
            <a:off x="4617720" y="2697480"/>
            <a:ext cx="3154680" cy="1005840"/>
          </a:xfrm>
          <a:prstGeom prst="rect">
            <a:avLst/>
          </a:prstGeom>
          <a:noFill/>
          <a:ln/>
        </p:spPr>
        <p:txBody>
          <a:bodyPr wrap="square" rtlCol="0" anchor="ctr"/>
          <a:lstStyle/>
          <a:p>
            <a:pPr indent="0" marL="0">
              <a:lnSpc>
                <a:spcPts val="1400"/>
              </a:lnSpc>
              <a:buNone/>
            </a:pPr>
            <a:r>
              <a:rPr lang="en-US" sz="1050" dirty="0">
                <a:solidFill>
                  <a:srgbClr val="CADCFC"/>
                </a:solidFill>
                <a:latin typeface="Helvetica" pitchFamily="34" charset="0"/>
                <a:ea typeface="Helvetica" pitchFamily="34" charset="-122"/>
                <a:cs typeface="Helvetica" pitchFamily="34" charset="-120"/>
              </a:rPr>
              <a:t>Every referral has a traceable status and an audit trail of who changed what and when.</a:t>
            </a:r>
            <a:endParaRPr lang="en-US" sz="1050" dirty="0"/>
          </a:p>
        </p:txBody>
      </p:sp>
      <p:sp>
        <p:nvSpPr>
          <p:cNvPr id="14" name="Shape 12"/>
          <p:cNvSpPr/>
          <p:nvPr/>
        </p:nvSpPr>
        <p:spPr>
          <a:xfrm>
            <a:off x="8229600" y="1508760"/>
            <a:ext cx="3611880" cy="2286000"/>
          </a:xfrm>
          <a:prstGeom prst="roundRect">
            <a:avLst>
              <a:gd name="adj" fmla="val 4000"/>
            </a:avLst>
          </a:prstGeom>
          <a:solidFill>
            <a:srgbClr val="FFFFFF">
              <a:alpha val="94000"/>
            </a:srgbClr>
          </a:solidFill>
          <a:ln w="12700">
            <a:solidFill>
              <a:srgbClr val="1F5F63"/>
            </a:solidFill>
            <a:prstDash val="solid"/>
          </a:ln>
        </p:spPr>
      </p:sp>
      <p:sp>
        <p:nvSpPr>
          <p:cNvPr id="15" name="Shape 13"/>
          <p:cNvSpPr/>
          <p:nvPr/>
        </p:nvSpPr>
        <p:spPr>
          <a:xfrm>
            <a:off x="8458200" y="1737360"/>
            <a:ext cx="457200" cy="457200"/>
          </a:xfrm>
          <a:prstGeom prst="roundRect">
            <a:avLst>
              <a:gd name="adj" fmla="val 100000"/>
            </a:avLst>
          </a:prstGeom>
          <a:solidFill>
            <a:srgbClr val="02C39A"/>
          </a:solidFill>
          <a:ln/>
        </p:spPr>
      </p:sp>
      <p:sp>
        <p:nvSpPr>
          <p:cNvPr id="16" name="Text 14"/>
          <p:cNvSpPr/>
          <p:nvPr/>
        </p:nvSpPr>
        <p:spPr>
          <a:xfrm>
            <a:off x="8458200" y="1737360"/>
            <a:ext cx="457200" cy="457200"/>
          </a:xfrm>
          <a:prstGeom prst="rect">
            <a:avLst/>
          </a:prstGeom>
          <a:noFill/>
          <a:ln/>
        </p:spPr>
        <p:txBody>
          <a:bodyPr wrap="square" rtlCol="0" anchor="ctr"/>
          <a:lstStyle/>
          <a:p>
            <a:pPr algn="ctr" indent="0" marL="0">
              <a:buNone/>
            </a:pPr>
            <a:r>
              <a:rPr lang="en-US" sz="1500" b="1" dirty="0">
                <a:solidFill>
                  <a:srgbClr val="FFFFFF"/>
                </a:solidFill>
                <a:latin typeface="Helvetica" pitchFamily="34" charset="0"/>
                <a:ea typeface="Helvetica" pitchFamily="34" charset="-122"/>
                <a:cs typeface="Helvetica" pitchFamily="34" charset="-120"/>
              </a:rPr>
              <a:t>3</a:t>
            </a:r>
            <a:endParaRPr lang="en-US" sz="1500" dirty="0"/>
          </a:p>
        </p:txBody>
      </p:sp>
      <p:sp>
        <p:nvSpPr>
          <p:cNvPr id="17" name="Text 15"/>
          <p:cNvSpPr/>
          <p:nvPr/>
        </p:nvSpPr>
        <p:spPr>
          <a:xfrm>
            <a:off x="8458200" y="2331720"/>
            <a:ext cx="3154680" cy="365760"/>
          </a:xfrm>
          <a:prstGeom prst="rect">
            <a:avLst/>
          </a:prstGeom>
          <a:noFill/>
          <a:ln/>
        </p:spPr>
        <p:txBody>
          <a:bodyPr wrap="square" rtlCol="0" anchor="ctr"/>
          <a:lstStyle/>
          <a:p>
            <a:pPr indent="0" marL="0">
              <a:buNone/>
            </a:pPr>
            <a:r>
              <a:rPr lang="en-US" sz="1400" b="1" dirty="0">
                <a:solidFill>
                  <a:srgbClr val="FFFFFF"/>
                </a:solidFill>
                <a:latin typeface="Helvetica" pitchFamily="34" charset="0"/>
                <a:ea typeface="Helvetica" pitchFamily="34" charset="-122"/>
                <a:cs typeface="Helvetica" pitchFamily="34" charset="-120"/>
              </a:rPr>
              <a:t>Continuity of care</a:t>
            </a:r>
            <a:endParaRPr lang="en-US" sz="1400" dirty="0"/>
          </a:p>
        </p:txBody>
      </p:sp>
      <p:sp>
        <p:nvSpPr>
          <p:cNvPr id="18" name="Text 16"/>
          <p:cNvSpPr/>
          <p:nvPr/>
        </p:nvSpPr>
        <p:spPr>
          <a:xfrm>
            <a:off x="8458200" y="2697480"/>
            <a:ext cx="3154680" cy="1005840"/>
          </a:xfrm>
          <a:prstGeom prst="rect">
            <a:avLst/>
          </a:prstGeom>
          <a:noFill/>
          <a:ln/>
        </p:spPr>
        <p:txBody>
          <a:bodyPr wrap="square" rtlCol="0" anchor="ctr"/>
          <a:lstStyle/>
          <a:p>
            <a:pPr indent="0" marL="0">
              <a:lnSpc>
                <a:spcPts val="1400"/>
              </a:lnSpc>
              <a:buNone/>
            </a:pPr>
            <a:r>
              <a:rPr lang="en-US" sz="1050" dirty="0">
                <a:solidFill>
                  <a:srgbClr val="CADCFC"/>
                </a:solidFill>
                <a:latin typeface="Helvetica" pitchFamily="34" charset="0"/>
                <a:ea typeface="Helvetica" pitchFamily="34" charset="-122"/>
                <a:cs typeface="Helvetica" pitchFamily="34" charset="-120"/>
              </a:rPr>
              <a:t>Referrals are followed through to completion rather than lost between the CHW and the facility.</a:t>
            </a:r>
            <a:endParaRPr lang="en-US" sz="1050" dirty="0"/>
          </a:p>
        </p:txBody>
      </p:sp>
      <p:sp>
        <p:nvSpPr>
          <p:cNvPr id="19" name="Shape 17"/>
          <p:cNvSpPr/>
          <p:nvPr/>
        </p:nvSpPr>
        <p:spPr>
          <a:xfrm>
            <a:off x="548640" y="4069080"/>
            <a:ext cx="3611880" cy="2286000"/>
          </a:xfrm>
          <a:prstGeom prst="roundRect">
            <a:avLst>
              <a:gd name="adj" fmla="val 4000"/>
            </a:avLst>
          </a:prstGeom>
          <a:solidFill>
            <a:srgbClr val="FFFFFF">
              <a:alpha val="94000"/>
            </a:srgbClr>
          </a:solidFill>
          <a:ln w="12700">
            <a:solidFill>
              <a:srgbClr val="1F5F63"/>
            </a:solidFill>
            <a:prstDash val="solid"/>
          </a:ln>
        </p:spPr>
      </p:sp>
      <p:sp>
        <p:nvSpPr>
          <p:cNvPr id="20" name="Shape 18"/>
          <p:cNvSpPr/>
          <p:nvPr/>
        </p:nvSpPr>
        <p:spPr>
          <a:xfrm>
            <a:off x="777240" y="4297680"/>
            <a:ext cx="457200" cy="457200"/>
          </a:xfrm>
          <a:prstGeom prst="roundRect">
            <a:avLst>
              <a:gd name="adj" fmla="val 100000"/>
            </a:avLst>
          </a:prstGeom>
          <a:solidFill>
            <a:srgbClr val="028090"/>
          </a:solidFill>
          <a:ln/>
        </p:spPr>
      </p:sp>
      <p:sp>
        <p:nvSpPr>
          <p:cNvPr id="21" name="Text 19"/>
          <p:cNvSpPr/>
          <p:nvPr/>
        </p:nvSpPr>
        <p:spPr>
          <a:xfrm>
            <a:off x="777240" y="4297680"/>
            <a:ext cx="457200" cy="457200"/>
          </a:xfrm>
          <a:prstGeom prst="rect">
            <a:avLst/>
          </a:prstGeom>
          <a:noFill/>
          <a:ln/>
        </p:spPr>
        <p:txBody>
          <a:bodyPr wrap="square" rtlCol="0" anchor="ctr"/>
          <a:lstStyle/>
          <a:p>
            <a:pPr algn="ctr" indent="0" marL="0">
              <a:buNone/>
            </a:pPr>
            <a:r>
              <a:rPr lang="en-US" sz="1500" b="1" dirty="0">
                <a:solidFill>
                  <a:srgbClr val="FFFFFF"/>
                </a:solidFill>
                <a:latin typeface="Helvetica" pitchFamily="34" charset="0"/>
                <a:ea typeface="Helvetica" pitchFamily="34" charset="-122"/>
                <a:cs typeface="Helvetica" pitchFamily="34" charset="-120"/>
              </a:rPr>
              <a:t>4</a:t>
            </a:r>
            <a:endParaRPr lang="en-US" sz="1500" dirty="0"/>
          </a:p>
        </p:txBody>
      </p:sp>
      <p:sp>
        <p:nvSpPr>
          <p:cNvPr id="22" name="Text 20"/>
          <p:cNvSpPr/>
          <p:nvPr/>
        </p:nvSpPr>
        <p:spPr>
          <a:xfrm>
            <a:off x="777240" y="4892040"/>
            <a:ext cx="3154680" cy="365760"/>
          </a:xfrm>
          <a:prstGeom prst="rect">
            <a:avLst/>
          </a:prstGeom>
          <a:noFill/>
          <a:ln/>
        </p:spPr>
        <p:txBody>
          <a:bodyPr wrap="square" rtlCol="0" anchor="ctr"/>
          <a:lstStyle/>
          <a:p>
            <a:pPr indent="0" marL="0">
              <a:buNone/>
            </a:pPr>
            <a:r>
              <a:rPr lang="en-US" sz="1400" b="1" dirty="0">
                <a:solidFill>
                  <a:srgbClr val="FFFFFF"/>
                </a:solidFill>
                <a:latin typeface="Helvetica" pitchFamily="34" charset="0"/>
                <a:ea typeface="Helvetica" pitchFamily="34" charset="-122"/>
                <a:cs typeface="Helvetica" pitchFamily="34" charset="-120"/>
              </a:rPr>
              <a:t>Evidence-based planning</a:t>
            </a:r>
            <a:endParaRPr lang="en-US" sz="1400" dirty="0"/>
          </a:p>
        </p:txBody>
      </p:sp>
      <p:sp>
        <p:nvSpPr>
          <p:cNvPr id="23" name="Text 21"/>
          <p:cNvSpPr/>
          <p:nvPr/>
        </p:nvSpPr>
        <p:spPr>
          <a:xfrm>
            <a:off x="777240" y="5257800"/>
            <a:ext cx="3154680" cy="1005840"/>
          </a:xfrm>
          <a:prstGeom prst="rect">
            <a:avLst/>
          </a:prstGeom>
          <a:noFill/>
          <a:ln/>
        </p:spPr>
        <p:txBody>
          <a:bodyPr wrap="square" rtlCol="0" anchor="ctr"/>
          <a:lstStyle/>
          <a:p>
            <a:pPr indent="0" marL="0">
              <a:lnSpc>
                <a:spcPts val="1400"/>
              </a:lnSpc>
              <a:buNone/>
            </a:pPr>
            <a:r>
              <a:rPr lang="en-US" sz="1050" dirty="0">
                <a:solidFill>
                  <a:srgbClr val="CADCFC"/>
                </a:solidFill>
                <a:latin typeface="Helvetica" pitchFamily="34" charset="0"/>
                <a:ea typeface="Helvetica" pitchFamily="34" charset="-122"/>
                <a:cs typeface="Helvetica" pitchFamily="34" charset="-120"/>
              </a:rPr>
              <a:t>Topic-frequency and completion-rate views let coordinators target training and resources where they're needed.</a:t>
            </a:r>
            <a:endParaRPr lang="en-US" sz="1050" dirty="0"/>
          </a:p>
        </p:txBody>
      </p:sp>
      <p:sp>
        <p:nvSpPr>
          <p:cNvPr id="24" name="Shape 22"/>
          <p:cNvSpPr/>
          <p:nvPr/>
        </p:nvSpPr>
        <p:spPr>
          <a:xfrm>
            <a:off x="4389120" y="4069080"/>
            <a:ext cx="3611880" cy="2286000"/>
          </a:xfrm>
          <a:prstGeom prst="roundRect">
            <a:avLst>
              <a:gd name="adj" fmla="val 4000"/>
            </a:avLst>
          </a:prstGeom>
          <a:solidFill>
            <a:srgbClr val="FFFFFF">
              <a:alpha val="94000"/>
            </a:srgbClr>
          </a:solidFill>
          <a:ln w="12700">
            <a:solidFill>
              <a:srgbClr val="1F5F63"/>
            </a:solidFill>
            <a:prstDash val="solid"/>
          </a:ln>
        </p:spPr>
      </p:sp>
      <p:sp>
        <p:nvSpPr>
          <p:cNvPr id="25" name="Shape 23"/>
          <p:cNvSpPr/>
          <p:nvPr/>
        </p:nvSpPr>
        <p:spPr>
          <a:xfrm>
            <a:off x="4617720" y="4297680"/>
            <a:ext cx="457200" cy="457200"/>
          </a:xfrm>
          <a:prstGeom prst="roundRect">
            <a:avLst>
              <a:gd name="adj" fmla="val 100000"/>
            </a:avLst>
          </a:prstGeom>
          <a:solidFill>
            <a:srgbClr val="00A896"/>
          </a:solidFill>
          <a:ln/>
        </p:spPr>
      </p:sp>
      <p:sp>
        <p:nvSpPr>
          <p:cNvPr id="26" name="Text 24"/>
          <p:cNvSpPr/>
          <p:nvPr/>
        </p:nvSpPr>
        <p:spPr>
          <a:xfrm>
            <a:off x="4617720" y="4297680"/>
            <a:ext cx="457200" cy="457200"/>
          </a:xfrm>
          <a:prstGeom prst="rect">
            <a:avLst/>
          </a:prstGeom>
          <a:noFill/>
          <a:ln/>
        </p:spPr>
        <p:txBody>
          <a:bodyPr wrap="square" rtlCol="0" anchor="ctr"/>
          <a:lstStyle/>
          <a:p>
            <a:pPr algn="ctr" indent="0" marL="0">
              <a:buNone/>
            </a:pPr>
            <a:r>
              <a:rPr lang="en-US" sz="1500" b="1" dirty="0">
                <a:solidFill>
                  <a:srgbClr val="FFFFFF"/>
                </a:solidFill>
                <a:latin typeface="Helvetica" pitchFamily="34" charset="0"/>
                <a:ea typeface="Helvetica" pitchFamily="34" charset="-122"/>
                <a:cs typeface="Helvetica" pitchFamily="34" charset="-120"/>
              </a:rPr>
              <a:t>5</a:t>
            </a:r>
            <a:endParaRPr lang="en-US" sz="1500" dirty="0"/>
          </a:p>
        </p:txBody>
      </p:sp>
      <p:sp>
        <p:nvSpPr>
          <p:cNvPr id="27" name="Text 25"/>
          <p:cNvSpPr/>
          <p:nvPr/>
        </p:nvSpPr>
        <p:spPr>
          <a:xfrm>
            <a:off x="4617720" y="4892040"/>
            <a:ext cx="3154680" cy="365760"/>
          </a:xfrm>
          <a:prstGeom prst="rect">
            <a:avLst/>
          </a:prstGeom>
          <a:noFill/>
          <a:ln/>
        </p:spPr>
        <p:txBody>
          <a:bodyPr wrap="square" rtlCol="0" anchor="ctr"/>
          <a:lstStyle/>
          <a:p>
            <a:pPr indent="0" marL="0">
              <a:buNone/>
            </a:pPr>
            <a:r>
              <a:rPr lang="en-US" sz="1400" b="1" dirty="0">
                <a:solidFill>
                  <a:srgbClr val="FFFFFF"/>
                </a:solidFill>
                <a:latin typeface="Helvetica" pitchFamily="34" charset="0"/>
                <a:ea typeface="Helvetica" pitchFamily="34" charset="-122"/>
                <a:cs typeface="Helvetica" pitchFamily="34" charset="-120"/>
              </a:rPr>
              <a:t>Scalability</a:t>
            </a:r>
            <a:endParaRPr lang="en-US" sz="1400" dirty="0"/>
          </a:p>
        </p:txBody>
      </p:sp>
      <p:sp>
        <p:nvSpPr>
          <p:cNvPr id="28" name="Text 26"/>
          <p:cNvSpPr/>
          <p:nvPr/>
        </p:nvSpPr>
        <p:spPr>
          <a:xfrm>
            <a:off x="4617720" y="5257800"/>
            <a:ext cx="3154680" cy="1005840"/>
          </a:xfrm>
          <a:prstGeom prst="rect">
            <a:avLst/>
          </a:prstGeom>
          <a:noFill/>
          <a:ln/>
        </p:spPr>
        <p:txBody>
          <a:bodyPr wrap="square" rtlCol="0" anchor="ctr"/>
          <a:lstStyle/>
          <a:p>
            <a:pPr indent="0" marL="0">
              <a:lnSpc>
                <a:spcPts val="1400"/>
              </a:lnSpc>
              <a:buNone/>
            </a:pPr>
            <a:r>
              <a:rPr lang="en-US" sz="1050" dirty="0">
                <a:solidFill>
                  <a:srgbClr val="CADCFC"/>
                </a:solidFill>
                <a:latin typeface="Helvetica" pitchFamily="34" charset="0"/>
                <a:ea typeface="Helvetica" pitchFamily="34" charset="-122"/>
                <a:cs typeface="Helvetica" pitchFamily="34" charset="-120"/>
              </a:rPr>
              <a:t>A normalized schema and reusable PL/SQL logic let the system grow to more districts without redesign.</a:t>
            </a:r>
            <a:endParaRPr lang="en-US" sz="1050" dirty="0"/>
          </a:p>
        </p:txBody>
      </p:sp>
      <p:sp>
        <p:nvSpPr>
          <p:cNvPr id="29" name="Shape 27"/>
          <p:cNvSpPr/>
          <p:nvPr/>
        </p:nvSpPr>
        <p:spPr>
          <a:xfrm>
            <a:off x="8229600" y="4069080"/>
            <a:ext cx="3611880" cy="2286000"/>
          </a:xfrm>
          <a:prstGeom prst="roundRect">
            <a:avLst>
              <a:gd name="adj" fmla="val 4000"/>
            </a:avLst>
          </a:prstGeom>
          <a:solidFill>
            <a:srgbClr val="FFFFFF">
              <a:alpha val="94000"/>
            </a:srgbClr>
          </a:solidFill>
          <a:ln w="12700">
            <a:solidFill>
              <a:srgbClr val="1F5F63"/>
            </a:solidFill>
            <a:prstDash val="solid"/>
          </a:ln>
        </p:spPr>
      </p:sp>
      <p:sp>
        <p:nvSpPr>
          <p:cNvPr id="30" name="Shape 28"/>
          <p:cNvSpPr/>
          <p:nvPr/>
        </p:nvSpPr>
        <p:spPr>
          <a:xfrm>
            <a:off x="8458200" y="4297680"/>
            <a:ext cx="457200" cy="457200"/>
          </a:xfrm>
          <a:prstGeom prst="roundRect">
            <a:avLst>
              <a:gd name="adj" fmla="val 100000"/>
            </a:avLst>
          </a:prstGeom>
          <a:solidFill>
            <a:srgbClr val="02C39A"/>
          </a:solidFill>
          <a:ln/>
        </p:spPr>
      </p:sp>
      <p:sp>
        <p:nvSpPr>
          <p:cNvPr id="31" name="Text 29"/>
          <p:cNvSpPr/>
          <p:nvPr/>
        </p:nvSpPr>
        <p:spPr>
          <a:xfrm>
            <a:off x="8458200" y="4297680"/>
            <a:ext cx="457200" cy="457200"/>
          </a:xfrm>
          <a:prstGeom prst="rect">
            <a:avLst/>
          </a:prstGeom>
          <a:noFill/>
          <a:ln/>
        </p:spPr>
        <p:txBody>
          <a:bodyPr wrap="square" rtlCol="0" anchor="ctr"/>
          <a:lstStyle/>
          <a:p>
            <a:pPr algn="ctr" indent="0" marL="0">
              <a:buNone/>
            </a:pPr>
            <a:r>
              <a:rPr lang="en-US" sz="1500" b="1" dirty="0">
                <a:solidFill>
                  <a:srgbClr val="FFFFFF"/>
                </a:solidFill>
                <a:latin typeface="Helvetica" pitchFamily="34" charset="0"/>
                <a:ea typeface="Helvetica" pitchFamily="34" charset="-122"/>
                <a:cs typeface="Helvetica" pitchFamily="34" charset="-120"/>
              </a:rPr>
              <a:t>6</a:t>
            </a:r>
            <a:endParaRPr lang="en-US" sz="1500" dirty="0"/>
          </a:p>
        </p:txBody>
      </p:sp>
      <p:sp>
        <p:nvSpPr>
          <p:cNvPr id="32" name="Text 30"/>
          <p:cNvSpPr/>
          <p:nvPr/>
        </p:nvSpPr>
        <p:spPr>
          <a:xfrm>
            <a:off x="8458200" y="4892040"/>
            <a:ext cx="3154680" cy="365760"/>
          </a:xfrm>
          <a:prstGeom prst="rect">
            <a:avLst/>
          </a:prstGeom>
          <a:noFill/>
          <a:ln/>
        </p:spPr>
        <p:txBody>
          <a:bodyPr wrap="square" rtlCol="0" anchor="ctr"/>
          <a:lstStyle/>
          <a:p>
            <a:pPr indent="0" marL="0">
              <a:buNone/>
            </a:pPr>
            <a:r>
              <a:rPr lang="en-US" sz="1400" b="1" dirty="0">
                <a:solidFill>
                  <a:srgbClr val="FFFFFF"/>
                </a:solidFill>
                <a:latin typeface="Helvetica" pitchFamily="34" charset="0"/>
                <a:ea typeface="Helvetica" pitchFamily="34" charset="-122"/>
                <a:cs typeface="Helvetica" pitchFamily="34" charset="-120"/>
              </a:rPr>
              <a:t>Faster decisions</a:t>
            </a:r>
            <a:endParaRPr lang="en-US" sz="1400" dirty="0"/>
          </a:p>
        </p:txBody>
      </p:sp>
      <p:sp>
        <p:nvSpPr>
          <p:cNvPr id="33" name="Text 31"/>
          <p:cNvSpPr/>
          <p:nvPr/>
        </p:nvSpPr>
        <p:spPr>
          <a:xfrm>
            <a:off x="8458200" y="5257800"/>
            <a:ext cx="3154680" cy="1005840"/>
          </a:xfrm>
          <a:prstGeom prst="rect">
            <a:avLst/>
          </a:prstGeom>
          <a:noFill/>
          <a:ln/>
        </p:spPr>
        <p:txBody>
          <a:bodyPr wrap="square" rtlCol="0" anchor="ctr"/>
          <a:lstStyle/>
          <a:p>
            <a:pPr indent="0" marL="0">
              <a:lnSpc>
                <a:spcPts val="1400"/>
              </a:lnSpc>
              <a:buNone/>
            </a:pPr>
            <a:r>
              <a:rPr lang="en-US" sz="1050" dirty="0">
                <a:solidFill>
                  <a:srgbClr val="CADCFC"/>
                </a:solidFill>
                <a:latin typeface="Helvetica" pitchFamily="34" charset="0"/>
                <a:ea typeface="Helvetica" pitchFamily="34" charset="-122"/>
                <a:cs typeface="Helvetica" pitchFamily="34" charset="-120"/>
              </a:rPr>
              <a:t>Power BI dashboards turn raw visit/referral data into a monthly view coordinators can act on.</a:t>
            </a:r>
            <a:endParaRPr lang="en-US" sz="10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Slides>
  <Notes>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vt:i4>
      </vt:variant>
    </vt:vector>
  </HeadingPairs>
  <TitlesOfParts>
    <vt:vector size="6" baseType="lpstr">
      <vt:lpstr>Arial</vt:lpstr>
      <vt:lpstr>Calibri</vt:lpstr>
      <vt:lpstr>Office Theme</vt:lpstr>
      <vt:lpstr>Slide 1</vt:lpstr>
      <vt:lpstr>Slide 2</vt:lpstr>
      <vt:lpstr>Slide 3</vt:lpstr>
    </vt:vector>
  </TitlesOfParts>
  <Company>UNILAK - DPR400210</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Winning (Divin)</dc:creator>
  <cp:lastModifiedBy>Winning (Divin)</cp:lastModifiedBy>
  <cp:revision>1</cp:revision>
  <dcterms:created xsi:type="dcterms:W3CDTF">2026-07-13T10:59:25Z</dcterms:created>
  <dcterms:modified xsi:type="dcterms:W3CDTF">2026-07-13T10:59:25Z</dcterms:modified>
</cp:coreProperties>
</file>